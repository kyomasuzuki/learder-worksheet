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572000" cy="4572000"/>
          </a:xfrm>
          <a:prstGeom prst="ellipse">
            <a:avLst/>
          </a:prstGeom>
          <a:solidFill>
            <a:srgbClr val="141B4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554480"/>
            <a:ext cx="475488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45336"/>
            <a:ext cx="4754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第4弾｜サークル・委員会リーダー向け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リーダーのためのワークシート集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成長の道筋／ピッチ構成／モチベーショングラフ／業界研究／面接想定問答／逆質問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すべて無料・学生団体のみなさんは自由に使えます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使い方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1つのワークは2枚。まず例を読み、次に白紙に書きます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7744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04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解説と記入例を読む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意味・狙い・効果と、サークルでの記入例を確認します。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377440"/>
            <a:ext cx="548640" cy="548640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040" dirty="0"/>
          </a:p>
        </p:txBody>
      </p:sp>
      <p:sp>
        <p:nvSpPr>
          <p:cNvPr id="12" name="Text 10"/>
          <p:cNvSpPr/>
          <p:nvPr/>
        </p:nvSpPr>
        <p:spPr>
          <a:xfrm>
            <a:off x="461772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白紙のシートに書く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自分のサークルについて、思いつくまま書き込みます。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377440"/>
            <a:ext cx="548640" cy="548640"/>
          </a:xfrm>
          <a:prstGeom prst="ellipse">
            <a:avLst/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3682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4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040" dirty="0"/>
          </a:p>
        </p:txBody>
      </p:sp>
      <p:sp>
        <p:nvSpPr>
          <p:cNvPr id="17" name="Text 15"/>
          <p:cNvSpPr/>
          <p:nvPr/>
        </p:nvSpPr>
        <p:spPr>
          <a:xfrm>
            <a:off x="8321040" y="31089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メンバーと見せ合う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56616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幹部や仲間と読み合い、直して決定版にします。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※記入例は架空の「ひだまりテニスサークル（部員40名）」のものです。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成長の道筋（アンゾフの成長マトリクス）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今の活動を広げる4つの方向を考える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活動内容と対象者を「今のまま／新しく」で掛け合わせ、広げる方向を4つに分ける。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広げ方の選択肢を整理し、リスクの大きさも見る。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思いつきではなく、根拠をもって次の一手を選べる。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今の活動×今の対象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友達紹介で、入部者と練習の参加率を上げる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新しい活動×今の対象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初心者向けの短時間レッスンを始める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今の活動×新しい対象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他学部や留学生にも体験会を開く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新しい活動×新しい対象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地域の子ども向けテニス教室を開く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成長の道筋（アンゾフの成長マトリクス）（記入用）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今の活動×今の対象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もっと参加してもらう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新しい活動×今の対象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新しい活動を足す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2377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今の活動×新しい対象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新しい人に届ける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新しい活動×新しい対象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大きく挑戦する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ピッチ構成シート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人に伝わる、短い発表の流れをつくる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課題・解決策・根拠・お願いの順に、短い発表の流れを組み立てるシート。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伝えたいことを絞り、聞き手が動ける形にする。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短い時間で理解され、協力や賛同を得やすくなる。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8E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記入例：学生起業のアイデア例（架空）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試験前に、勉強仲間が見つからない学生が多い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解決策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科目ごとの勉強会を、学内SNSで集められる仕組み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10人に聞き、7人が困っていた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試験前の2週間、5つの科目で試してほしい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ピッチ構成シート（記入用）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課題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何に困っているか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解決策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どう解決するか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根拠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本当に必要な証拠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聞き手にしてほしいこと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モチベーショングラフ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気持ちの上がり下がりから、自分の傾向を見つける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これまでの経験で、気持ちが上がった時と下がった時を振り返り、理由を探すこと。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自分がどんな時に力を出せるかを知る。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自己分析が深まり、志望理由や自己PRに根拠が持てる。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5A5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上がった出来事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1年の新歓で先輩に誘われ、居場所ができた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下がった出来事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2年の夏、幹部になって仕事が増え、部員とも揉めた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立ち直ったきっかけ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役割を分けて、全員で話し合う場を作った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分かった傾向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頼られると力が出る。1人で抱えると落ち込む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モチベーショングラフ（記入用）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上がった出来事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うれしかった・夢中になった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下がった出来事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つらかった・悩んだ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2194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立ち直ったきっかけ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どう乗りこえたか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C0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分かった傾向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自分はどんな人か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業界研究シート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気になる業界の動きと、自分との相性を整理する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業界の外の動き（政治・経済・社会・技術）と仕事の流れを整理し、自分との相性を見る。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イメージだけで選ばず、事実をもとに判断する。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志望理由に具体性が出て、入社後のミスマッチも減る。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8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記入例：食品メーカーの例（架空）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業界の動き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人口が減り国内市場は縮小。健康志向とデジタル化は進む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仕事の流れ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商品を企画し、作り、売り、お客様の声を次に活かす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惹かれる点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人と関わりながら、暮らしの課題を解決できる点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確認したい点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転勤の頻度。入社後の研修の中身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業界研究シート（記入用）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業界の動き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社会の変化との関係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仕事の流れ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企画から販売まで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惹かれる点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自分と合うところ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6C4C8C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確認したい点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不安や知りたいこと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面接想定問答シート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よく聞かれる質問に、結論から答える練習をする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想定される質問に対して、結論・理由・具体例の順で答えを準備するシート。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本番で慌てず、深掘りにも答えられるようにする。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話が短く具体的になり、面接官に伝わりやすくなる。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想定される質問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サークルで一番力を入れたことは何ですか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結論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新入部員を前年並みに戻すため、体験会の仕組みを変えました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理由と具体例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体験会を週3回に増やし、1対1の担当制にして22人が入部しました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深掘り対策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「なぜ担当制に？」→初心者が最初に話しかけにくいと感じたため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面接想定問答シート（記入用）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想定される質問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よく聞かれること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結論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最初の一言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理由と具体例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数字や事実で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深掘り対策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次に聞かれそうなこと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逆質問づくりシート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面接の最後の質問を、自分の判断材料にする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10911535" cy="1481328"/>
          </a:xfrm>
          <a:prstGeom prst="roundRect">
            <a:avLst>
              <a:gd name="adj" fmla="val 4938"/>
            </a:avLst>
          </a:prstGeom>
          <a:solidFill>
            <a:srgbClr val="EEF3FD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意味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面接の最後に自分から聞く質問を、目的とあわせて準備すること。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60138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460138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狙い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60138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意欲を示すだけでなく、本当に知りたいことを確かめる。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7317" y="2020824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097317" y="201168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得られる効果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97317" y="2404872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入社後の姿を具体的に描け、会社選びの精度が上がる。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538728"/>
            <a:ext cx="10911535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9E2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630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913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記入例：ひだまりテニスサークル（架空）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68680" y="404164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03250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知りたいこと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54680" y="3977640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入社1〜3年目の人は、どんな仕事を任されますか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4620006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61086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聞く理由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54680" y="4555998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自分が成長できる環境かを判断したいから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8680" y="5198364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18922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聞き方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154680" y="5134356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「サークルでの経験を活かしたいので、〜について教えてください」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8680" y="5776722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76757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避けること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154680" y="5712714"/>
            <a:ext cx="8168335" cy="5326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調べればわかることや、待遇だけを聞く質問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48056"/>
            <a:ext cx="9418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ワーク6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逆質問づくりシート（記入用）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あなたのサークルについて書きましょう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91495" y="4572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7" name="Text 5"/>
          <p:cNvSpPr/>
          <p:nvPr/>
        </p:nvSpPr>
        <p:spPr>
          <a:xfrm>
            <a:off x="10591495" y="448056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WORK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77240" y="2002536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993392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知りたいこと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4672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質問したい内容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4672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804672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370168" y="2002536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19933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聞く理由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97600" y="240487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なぜ知りたいのか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97600" y="288036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397600" y="324612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77240" y="4357116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347972"/>
            <a:ext cx="1097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聞き方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4672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伝え方の工夫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04672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233008" y="4229100"/>
            <a:ext cx="5318608" cy="208026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5875">
            <a:solidFill>
              <a:srgbClr val="CADCFC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70168" y="4357116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6370168" y="434797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避けること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97600" y="4759452"/>
            <a:ext cx="49894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やめておく質問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97600" y="523494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397600" y="5600700"/>
            <a:ext cx="4989424" cy="0"/>
          </a:xfrm>
          <a:prstGeom prst="line">
            <a:avLst/>
          </a:prstGeom>
          <a:noFill/>
          <a:ln w="12700">
            <a:solidFill>
              <a:srgbClr val="D9E2F2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118585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2026-10-13T07:01:56Z</dcterms:created>
  <dcterms:modified xsi:type="dcterms:W3CDTF">2026-10-13T07:01:56Z</dcterms:modified>
</cp:coreProperties>
</file>