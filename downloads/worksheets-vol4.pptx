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第4弾｜サークル・委員会リーダー向け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リーダーのためのワークシート集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成長の道筋／ピッチ構成／モチベーショングラフ／業界研究／面接想定問答／逆質問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すべて無料・学生団体のみなさんは自由に使えます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1つのワークは2枚。まず例を読み、次に白紙に書きます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解説と記入例を読む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意味・狙い・効果と、サークルでの記入例を確認します。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白紙のシートに書く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自分のサークルについて、思いつくまま書き込みます。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メンバーと見せ合う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幹部や仲間と読み合い、直して決定版にします。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※記入例は架空のサークル・架空のアイデアです。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成長の道筋（アンゾフの成長マトリクス）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今の活動を広げる4つの方向を考える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活動内容と対象者を「今のまま／新しく」で掛け合わせ、広げる方向を4つに分ける。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広げ方の選択肢を整理し、リスクの大きさも見る。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思いつきではなく、根拠をもって次の一手を選べる。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103120"/>
            <a:ext cx="31240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今の対象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27568" y="2103120"/>
            <a:ext cx="31240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新しい対象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06240" y="2514600"/>
            <a:ext cx="822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0" y="4480560"/>
            <a:ext cx="822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120640" y="6108192"/>
            <a:ext cx="6430975" cy="201168"/>
          </a:xfrm>
          <a:prstGeom prst="rightArrow">
            <a:avLst/>
          </a:prstGeom>
          <a:solidFill>
            <a:srgbClr val="D38C8C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6089904"/>
            <a:ext cx="64309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リスク：小 → 大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0" y="2514600"/>
            <a:ext cx="3124048" cy="1691640"/>
          </a:xfrm>
          <a:prstGeom prst="roundRect">
            <a:avLst>
              <a:gd name="adj" fmla="val 4324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578608"/>
            <a:ext cx="284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今の活動×今の対象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2898648"/>
            <a:ext cx="28497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友達紹介で、入部者と練習の参加率を上げる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4480560"/>
            <a:ext cx="3124048" cy="1691640"/>
          </a:xfrm>
          <a:prstGeom prst="roundRect">
            <a:avLst>
              <a:gd name="adj" fmla="val 4324"/>
            </a:avLst>
          </a:prstGeom>
          <a:solidFill>
            <a:srgbClr val="FCF6E9"/>
          </a:solidFill>
          <a:ln w="19050">
            <a:solidFill>
              <a:srgbClr val="E0A5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4544568"/>
            <a:ext cx="284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0A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新しい活動×今の対象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57800" y="4864608"/>
            <a:ext cx="28497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初心者向けの短時間レッスンを始める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27568" y="2514600"/>
            <a:ext cx="3124048" cy="1691640"/>
          </a:xfrm>
          <a:prstGeom prst="roundRect">
            <a:avLst>
              <a:gd name="adj" fmla="val 4324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64728" y="2578608"/>
            <a:ext cx="284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今の活動×新しい対象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64728" y="2898648"/>
            <a:ext cx="28497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他学部や留学生にも体験会を開く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27568" y="4480560"/>
            <a:ext cx="3124048" cy="1691640"/>
          </a:xfrm>
          <a:prstGeom prst="roundRect">
            <a:avLst>
              <a:gd name="adj" fmla="val 4324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4728" y="4544568"/>
            <a:ext cx="28497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新しい活動×新しい対象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64728" y="4864608"/>
            <a:ext cx="28497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地域の子ども向けテニス教室を開く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成長の道筋（アンゾフの成長マトリクス）（記入用）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今の対象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44488" y="187452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新しい対象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822960" cy="1897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366260"/>
            <a:ext cx="822960" cy="1897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54480" y="6108192"/>
            <a:ext cx="9997135" cy="201168"/>
          </a:xfrm>
          <a:prstGeom prst="rightArrow">
            <a:avLst/>
          </a:prstGeom>
          <a:solidFill>
            <a:srgbClr val="D3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6089904"/>
            <a:ext cx="99971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リスク：小 → 大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54480" y="2286000"/>
            <a:ext cx="4907128" cy="1805940"/>
          </a:xfrm>
          <a:prstGeom prst="roundRect">
            <a:avLst>
              <a:gd name="adj" fmla="val 4051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691640" y="2350008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今の活動×今の対象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91640" y="2651760"/>
            <a:ext cx="46328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もっと参加してもらう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91640" y="3191256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691640" y="3502152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691640" y="3813048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554480" y="4366260"/>
            <a:ext cx="4907128" cy="1805940"/>
          </a:xfrm>
          <a:prstGeom prst="roundRect">
            <a:avLst>
              <a:gd name="adj" fmla="val 4051"/>
            </a:avLst>
          </a:prstGeom>
          <a:solidFill>
            <a:srgbClr val="FCF6E9"/>
          </a:solidFill>
          <a:ln w="19050">
            <a:solidFill>
              <a:srgbClr val="E0A52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691640" y="4430268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0A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新しい活動×今の対象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91640" y="4732020"/>
            <a:ext cx="46328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新しい活動を足す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5271516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691640" y="5582412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691640" y="5893308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644488" y="2286000"/>
            <a:ext cx="4907128" cy="1805940"/>
          </a:xfrm>
          <a:prstGeom prst="roundRect">
            <a:avLst>
              <a:gd name="adj" fmla="val 4051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781648" y="2350008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今の活動×新しい対象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81648" y="2651760"/>
            <a:ext cx="46328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新しい人に届ける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81648" y="3191256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781648" y="3502152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781648" y="3813048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644488" y="4366260"/>
            <a:ext cx="4907128" cy="1805940"/>
          </a:xfrm>
          <a:prstGeom prst="roundRect">
            <a:avLst>
              <a:gd name="adj" fmla="val 4051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781648" y="4430268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新しい活動×新しい対象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81648" y="4732020"/>
            <a:ext cx="46328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大きく挑戦する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81648" y="5271516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781648" y="5582412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781648" y="5893308"/>
            <a:ext cx="46328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ピッチ構成シート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人に伝わる、短い発表の流れをつくる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課題・解決策・根拠・お願いの順に、短い発表の流れを組み立てるシート。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伝えたいことを絞り、聞き手が動ける形にする。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短い時間で理解され、協力や賛同を得やすくなる。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記入例：学生起業のアイデア例（架空）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2554" y="3931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18908" y="3931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35261" y="3931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5943600"/>
            <a:ext cx="73453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1枚のスライドに、伝えることは1つだけ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2103120"/>
            <a:ext cx="1596314" cy="3703320"/>
          </a:xfrm>
          <a:prstGeom prst="rect">
            <a:avLst>
              <a:gd name="adj" fmla="val 4583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2103120"/>
            <a:ext cx="1596314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315968" y="2103120"/>
            <a:ext cx="1413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2560320"/>
            <a:ext cx="1321994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試験前に、勉強仲間が見つからない学生が多い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2594" y="2103120"/>
            <a:ext cx="1596314" cy="3703320"/>
          </a:xfrm>
          <a:prstGeom prst="rect">
            <a:avLst>
              <a:gd name="adj" fmla="val 458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2594" y="2103120"/>
            <a:ext cx="1596314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32322" y="2103120"/>
            <a:ext cx="1413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9754" y="2560320"/>
            <a:ext cx="1321994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科目ごとの勉強会を、学内SNSで集められる仕組み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38948" y="2103120"/>
            <a:ext cx="1596314" cy="3703320"/>
          </a:xfrm>
          <a:prstGeom prst="rect">
            <a:avLst>
              <a:gd name="adj" fmla="val 4583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8948" y="2103120"/>
            <a:ext cx="1596314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33" name="Text 31"/>
          <p:cNvSpPr/>
          <p:nvPr/>
        </p:nvSpPr>
        <p:spPr>
          <a:xfrm>
            <a:off x="8148676" y="2103120"/>
            <a:ext cx="1413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76108" y="2560320"/>
            <a:ext cx="1321994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10人に聞き、7人が困っていた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55301" y="2103120"/>
            <a:ext cx="1596314" cy="3703320"/>
          </a:xfrm>
          <a:prstGeom prst="rect">
            <a:avLst>
              <a:gd name="adj" fmla="val 4583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55301" y="2103120"/>
            <a:ext cx="1596314" cy="365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65029" y="2103120"/>
            <a:ext cx="1413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92461" y="2560320"/>
            <a:ext cx="1321994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試験前の2週間、5つの科目で試してほしい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ピッチ構成シート（記入用）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7934" y="38176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35828" y="38176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43721" y="38176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1枚のスライドに、伝えることは1つだけ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2487854" cy="3931920"/>
          </a:xfrm>
          <a:prstGeom prst="rect">
            <a:avLst>
              <a:gd name="adj" fmla="val 2940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1874520"/>
            <a:ext cx="2487854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874520"/>
            <a:ext cx="23049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313432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何に困っているか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285292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77240" y="316382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77240" y="347472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7240" y="378561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77240" y="409651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40740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7240" y="471830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77240" y="502920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77240" y="534009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77240" y="565099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447974" y="1874520"/>
            <a:ext cx="2487854" cy="3931920"/>
          </a:xfrm>
          <a:prstGeom prst="rect">
            <a:avLst>
              <a:gd name="adj" fmla="val 2940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447974" y="1874520"/>
            <a:ext cx="2487854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557702" y="1874520"/>
            <a:ext cx="23049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85134" y="2313432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どう解決するか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85134" y="285292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585134" y="316382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585134" y="347472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585134" y="378561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585134" y="409651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585134" y="440740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585134" y="471830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585134" y="502920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585134" y="534009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585134" y="565099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255868" y="1874520"/>
            <a:ext cx="2487854" cy="3931920"/>
          </a:xfrm>
          <a:prstGeom prst="rect">
            <a:avLst>
              <a:gd name="adj" fmla="val 2940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255868" y="1874520"/>
            <a:ext cx="2487854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42" name="Text 40"/>
          <p:cNvSpPr/>
          <p:nvPr/>
        </p:nvSpPr>
        <p:spPr>
          <a:xfrm>
            <a:off x="6365596" y="1874520"/>
            <a:ext cx="23049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93028" y="2313432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本当に必要な証拠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93028" y="285292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393028" y="316382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393028" y="347472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393028" y="378561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6393028" y="409651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393028" y="440740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393028" y="471830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6393028" y="502920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393028" y="534009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393028" y="565099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9063761" y="1874520"/>
            <a:ext cx="2487854" cy="3931920"/>
          </a:xfrm>
          <a:prstGeom prst="rect">
            <a:avLst>
              <a:gd name="adj" fmla="val 2940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9063761" y="1874520"/>
            <a:ext cx="2487854" cy="365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6" name="Text 54"/>
          <p:cNvSpPr/>
          <p:nvPr/>
        </p:nvSpPr>
        <p:spPr>
          <a:xfrm>
            <a:off x="9173489" y="1874520"/>
            <a:ext cx="23049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200921" y="2313432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聞き手にしてほしいこと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200921" y="285292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9200921" y="316382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9200921" y="347472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9200921" y="378561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9200921" y="409651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9200921" y="4407408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9200921" y="4718304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9200921" y="5029200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9200921" y="5340096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9200921" y="5650992"/>
            <a:ext cx="221353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モチベーショングラフ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気持ちの上がり下がりから、自分の傾向を見つける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これまでの経験で、気持ちが上がった時と下がった時を振り返り、理由を探すこと。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自分がどんな時に力を出せるかを知る。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自己分析が深まり、志望理由や自己PRに根拠が持てる。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194560"/>
            <a:ext cx="0" cy="3657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5852160"/>
            <a:ext cx="374765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3977640"/>
            <a:ext cx="374765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20624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5532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6610" y="5897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時間の流れ 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4857182" y="2944368"/>
            <a:ext cx="712954" cy="1382573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0136" y="2944368"/>
            <a:ext cx="855545" cy="2238451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425680" y="3602736"/>
            <a:ext cx="784249" cy="1580083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209930" y="3010205"/>
            <a:ext cx="748602" cy="592531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7256" y="2761488"/>
            <a:ext cx="365760" cy="36576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0" name="Text 28"/>
          <p:cNvSpPr/>
          <p:nvPr/>
        </p:nvSpPr>
        <p:spPr>
          <a:xfrm>
            <a:off x="5387256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2800" y="4999939"/>
            <a:ext cx="365760" cy="36576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32" name="Text 30"/>
          <p:cNvSpPr/>
          <p:nvPr/>
        </p:nvSpPr>
        <p:spPr>
          <a:xfrm>
            <a:off x="6242800" y="499993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27050" y="3419856"/>
            <a:ext cx="365760" cy="365760"/>
          </a:xfrm>
          <a:prstGeom prst="ellipse">
            <a:avLst/>
          </a:prstGeom>
          <a:solidFill>
            <a:srgbClr val="2F6FD0"/>
          </a:solidFill>
          <a:ln/>
        </p:spPr>
      </p:sp>
      <p:sp>
        <p:nvSpPr>
          <p:cNvPr id="34" name="Text 32"/>
          <p:cNvSpPr/>
          <p:nvPr/>
        </p:nvSpPr>
        <p:spPr>
          <a:xfrm>
            <a:off x="702705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2530" y="2103120"/>
            <a:ext cx="3049085" cy="960120"/>
          </a:xfrm>
          <a:prstGeom prst="roundRect">
            <a:avLst>
              <a:gd name="adj" fmla="val 7619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39690" y="2167128"/>
            <a:ext cx="27747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上がった出来事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39690" y="2487168"/>
            <a:ext cx="2774765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1年の新歓で先輩に誘われ、居場所ができた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2530" y="3154680"/>
            <a:ext cx="3049085" cy="960120"/>
          </a:xfrm>
          <a:prstGeom prst="roundRect">
            <a:avLst>
              <a:gd name="adj" fmla="val 7619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39690" y="3218688"/>
            <a:ext cx="27747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下がった出来事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639690" y="3538728"/>
            <a:ext cx="2774765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2年の夏、幹部になって仕事が増え、部員とも揉めた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2530" y="4206240"/>
            <a:ext cx="3049085" cy="960120"/>
          </a:xfrm>
          <a:prstGeom prst="roundRect">
            <a:avLst>
              <a:gd name="adj" fmla="val 7619"/>
            </a:avLst>
          </a:prstGeom>
          <a:solidFill>
            <a:srgbClr val="EAF1FA"/>
          </a:solidFill>
          <a:ln w="19050">
            <a:solidFill>
              <a:srgbClr val="2F6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39690" y="4270248"/>
            <a:ext cx="27747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F6F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立ち直ったきっかけ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639690" y="4590288"/>
            <a:ext cx="2774765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役割を分けて、全員で話し合う場を作った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2530" y="5257800"/>
            <a:ext cx="3049085" cy="960120"/>
          </a:xfrm>
          <a:prstGeom prst="roundRect">
            <a:avLst>
              <a:gd name="adj" fmla="val 7619"/>
            </a:avLst>
          </a:prstGeom>
          <a:solidFill>
            <a:srgbClr val="F0EDF4"/>
          </a:solidFill>
          <a:ln w="19050">
            <a:solidFill>
              <a:srgbClr val="6C4C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39690" y="5321808"/>
            <a:ext cx="27747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C4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分かった傾向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639690" y="5641848"/>
            <a:ext cx="2774765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頼られると力が出る。1人で抱えると落ち込む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モチベーショングラフ（記入用）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0" cy="38862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05840" y="5852160"/>
            <a:ext cx="57447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3863340"/>
            <a:ext cx="5744700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532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7500" y="5897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時間の流れ →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3223260"/>
            <a:ext cx="50131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ここに折れ線を描こう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3420" y="1874520"/>
            <a:ext cx="4618195" cy="1017270"/>
          </a:xfrm>
          <a:prstGeom prst="roundRect">
            <a:avLst>
              <a:gd name="adj" fmla="val 7191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070580" y="1938528"/>
            <a:ext cx="43438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上がった出来事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70580" y="2240280"/>
            <a:ext cx="43438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うれしかった・夢中になった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33420" y="2983230"/>
            <a:ext cx="4618195" cy="1017270"/>
          </a:xfrm>
          <a:prstGeom prst="roundRect">
            <a:avLst>
              <a:gd name="adj" fmla="val 7191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070580" y="3047238"/>
            <a:ext cx="43438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下がった出来事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70580" y="3348990"/>
            <a:ext cx="43438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つらかった・悩んだ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33420" y="4091940"/>
            <a:ext cx="4618195" cy="1017270"/>
          </a:xfrm>
          <a:prstGeom prst="roundRect">
            <a:avLst>
              <a:gd name="adj" fmla="val 7191"/>
            </a:avLst>
          </a:prstGeom>
          <a:solidFill>
            <a:srgbClr val="EAF1FA"/>
          </a:solidFill>
          <a:ln w="19050">
            <a:solidFill>
              <a:srgbClr val="2F6FD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070580" y="4155948"/>
            <a:ext cx="43438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F6FD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立ち直ったきっかけ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70580" y="4457700"/>
            <a:ext cx="43438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どう乗りこえたか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33420" y="5200650"/>
            <a:ext cx="4618195" cy="1017270"/>
          </a:xfrm>
          <a:prstGeom prst="roundRect">
            <a:avLst>
              <a:gd name="adj" fmla="val 7191"/>
            </a:avLst>
          </a:prstGeom>
          <a:solidFill>
            <a:srgbClr val="F0EDF4"/>
          </a:solidFill>
          <a:ln w="19050">
            <a:solidFill>
              <a:srgbClr val="6C4C8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070580" y="5264658"/>
            <a:ext cx="43438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C4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分かった傾向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70580" y="5566410"/>
            <a:ext cx="434387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自分はどんな人か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業界研究シート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気になる業界の動きと、自分との相性を整理する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業界の外の動き（政治・経済・社会・技術）と仕事の流れを整理し、自分との相性を見る。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イメージだけで選ばず、事実をもとに判断する。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志望理由に具体性が出て、入社後のミスマッチも減る。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6C4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記入例：食品メーカーの例（架空）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474720"/>
            <a:ext cx="192778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3474720"/>
            <a:ext cx="165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42584" y="3474720"/>
            <a:ext cx="192778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179744" y="3474720"/>
            <a:ext cx="165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78928" y="3474720"/>
            <a:ext cx="192778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016088" y="3474720"/>
            <a:ext cx="165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15271" y="3474720"/>
            <a:ext cx="192778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9852431" y="3474720"/>
            <a:ext cx="165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お客様の声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06240" y="2103120"/>
            <a:ext cx="7345375" cy="1280160"/>
          </a:xfrm>
          <a:prstGeom prst="roundRect">
            <a:avLst>
              <a:gd name="adj" fmla="val 5714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2167128"/>
            <a:ext cx="70710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業界の動き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43400" y="2487168"/>
            <a:ext cx="707105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人口が減り国内市場は縮小。健康志向とデジタル化は進む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3977640"/>
            <a:ext cx="7345375" cy="1097280"/>
          </a:xfrm>
          <a:prstGeom prst="roundRect">
            <a:avLst>
              <a:gd name="adj" fmla="val 6667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4069080"/>
            <a:ext cx="707105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商品を企画し、作り、売り、お客様の声を次に活かす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5212080"/>
            <a:ext cx="3581248" cy="1097280"/>
          </a:xfrm>
          <a:prstGeom prst="roundRect">
            <a:avLst>
              <a:gd name="adj" fmla="val 6667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5276088"/>
            <a:ext cx="33069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惹かれる点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343400" y="5596128"/>
            <a:ext cx="33069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人と関わりながら、暮らしの課題を解決できる点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70368" y="5212080"/>
            <a:ext cx="3581248" cy="1097280"/>
          </a:xfrm>
          <a:prstGeom prst="roundRect">
            <a:avLst>
              <a:gd name="adj" fmla="val 6667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7528" y="5276088"/>
            <a:ext cx="33069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確認したい点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07528" y="5596128"/>
            <a:ext cx="33069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転勤の頻度。入社後の研修の中身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19695" y="22128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619695" y="22037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政治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07247" y="22128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8607247" y="22037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594799" y="22128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9594799" y="22037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582351" y="22128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10582351" y="22037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業界研究シート（記入用）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81932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46120"/>
            <a:ext cx="2545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7964" y="3246120"/>
            <a:ext cx="281932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05124" y="3246120"/>
            <a:ext cx="2545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5848" y="3246120"/>
            <a:ext cx="281932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33008" y="3246120"/>
            <a:ext cx="2545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23731" y="3246120"/>
            <a:ext cx="2819324" cy="457200"/>
          </a:xfrm>
          <a:prstGeom prst="chevron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0891" y="3246120"/>
            <a:ext cx="2545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お客様の声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187452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77240" y="19385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業界の動き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2532888"/>
            <a:ext cx="1063721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7240" y="2843784"/>
            <a:ext cx="1063721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374904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114800"/>
            <a:ext cx="1063721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7240" y="4425696"/>
            <a:ext cx="1063721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0080" y="4983480"/>
            <a:ext cx="5364328" cy="1325880"/>
          </a:xfrm>
          <a:prstGeom prst="roundRect">
            <a:avLst>
              <a:gd name="adj" fmla="val 5517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77240" y="5047488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惹かれる点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5349240"/>
            <a:ext cx="50900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自分と合うところ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5888736"/>
            <a:ext cx="50900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187288" y="4983480"/>
            <a:ext cx="5364328" cy="1325880"/>
          </a:xfrm>
          <a:prstGeom prst="roundRect">
            <a:avLst>
              <a:gd name="adj" fmla="val 5517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24448" y="5047488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確認したい点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24448" y="5349240"/>
            <a:ext cx="50900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不安や知りたいこと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24448" y="5888736"/>
            <a:ext cx="50900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619695" y="19842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619695" y="19751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政治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07247" y="19842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607247" y="19751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94799" y="19842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594799" y="19751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582351" y="19842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10582351" y="19751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面接想定問答シート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よく聞かれる質問に、結論から答える練習をする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想定される質問に対して、結論・理由・具体例の順で答えを準備するシート。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本番で慌てず、深掘りにも答えられるようにする。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話が短く具体的になり、面接官に伝わりやすくなる。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11535" y="3246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728655" y="3813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11535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728655" y="4864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5349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5916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2103120"/>
            <a:ext cx="5516575" cy="941832"/>
          </a:xfrm>
          <a:prstGeom prst="roundRect">
            <a:avLst>
              <a:gd name="adj" fmla="val 7767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167128"/>
            <a:ext cx="52422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想定される質問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080" y="2487168"/>
            <a:ext cx="52422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サークルで一番力を入れたことは何ですか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3154680"/>
            <a:ext cx="5516575" cy="941832"/>
          </a:xfrm>
          <a:prstGeom prst="roundRect">
            <a:avLst>
              <a:gd name="adj" fmla="val 7767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218688"/>
            <a:ext cx="52422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03520" y="3538728"/>
            <a:ext cx="52422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新入部員を前年並みに戻すため、体験会の仕組みを変えました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4206240"/>
            <a:ext cx="5516575" cy="941832"/>
          </a:xfrm>
          <a:prstGeom prst="roundRect">
            <a:avLst>
              <a:gd name="adj" fmla="val 7767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4270248"/>
            <a:ext cx="52422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理由と具体例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0" y="4590288"/>
            <a:ext cx="52422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体験会を週3回に増やし、1対1の担当制にして22人が入部しました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5257800"/>
            <a:ext cx="5516575" cy="941832"/>
          </a:xfrm>
          <a:prstGeom prst="roundRect">
            <a:avLst>
              <a:gd name="adj" fmla="val 7767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5321808"/>
            <a:ext cx="52422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深掘り対策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12080" y="5641848"/>
            <a:ext cx="52422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「なぜ担当制に？」→初心者が最初に話しかけにくいと感じたため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面接想定問答シート（記入用）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11535" y="307467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728655" y="364159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11535" y="41833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728655" y="47503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529209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85901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08760" y="1874520"/>
            <a:ext cx="9082735" cy="998982"/>
          </a:xfrm>
          <a:prstGeom prst="roundRect">
            <a:avLst>
              <a:gd name="adj" fmla="val 7323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645920" y="1938528"/>
            <a:ext cx="8808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想定される質問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45920" y="2240280"/>
            <a:ext cx="8808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よく聞かれること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00200" y="2983230"/>
            <a:ext cx="9082735" cy="998982"/>
          </a:xfrm>
          <a:prstGeom prst="roundRect">
            <a:avLst>
              <a:gd name="adj" fmla="val 732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737360" y="3047238"/>
            <a:ext cx="8808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37360" y="3348990"/>
            <a:ext cx="8808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最初の一言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091940"/>
            <a:ext cx="9082735" cy="998982"/>
          </a:xfrm>
          <a:prstGeom prst="roundRect">
            <a:avLst>
              <a:gd name="adj" fmla="val 732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737360" y="4155948"/>
            <a:ext cx="8808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理由と具体例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737360" y="4457700"/>
            <a:ext cx="8808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数字や事実で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5200650"/>
            <a:ext cx="9082735" cy="998982"/>
          </a:xfrm>
          <a:prstGeom prst="roundRect">
            <a:avLst>
              <a:gd name="adj" fmla="val 7323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645920" y="5264658"/>
            <a:ext cx="8808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深掘り対策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45920" y="5566410"/>
            <a:ext cx="8808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次に聞かれそうなこと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逆質問づくりシート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面接の最後の質問を、自分の判断材料にする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面接の最後に自分から聞く質問を、目的とあわせて準備すること。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意欲を示すだけでなく、本当に知りたいことを確かめる。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入社後の姿を具体的に描け、会社選びの精度が上がる。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11535" y="251460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11535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11535" y="4617720"/>
            <a:ext cx="457200" cy="45720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11535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6240" y="2103120"/>
            <a:ext cx="3672688" cy="2313432"/>
          </a:xfrm>
          <a:prstGeom prst="roundRect">
            <a:avLst>
              <a:gd name="adj" fmla="val 3162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167128"/>
            <a:ext cx="3398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知りたいこと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43400" y="2487168"/>
            <a:ext cx="339836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入社1〜3年目の人は、どんな仕事を任されますか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4526280"/>
            <a:ext cx="3672688" cy="1783080"/>
          </a:xfrm>
          <a:prstGeom prst="roundRect">
            <a:avLst>
              <a:gd name="adj" fmla="val 410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4590288"/>
            <a:ext cx="3398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聞く理由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43400" y="4910328"/>
            <a:ext cx="339836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自分が成長できる環境かを判断したいから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7528" y="2103120"/>
            <a:ext cx="2712568" cy="2011680"/>
          </a:xfrm>
          <a:prstGeom prst="roundRect">
            <a:avLst>
              <a:gd name="adj" fmla="val 3636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688" y="2167128"/>
            <a:ext cx="24382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聞き方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44688" y="2487168"/>
            <a:ext cx="243824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「サークルでの経験を活かしたいので、〜について教えてください」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07528" y="4297680"/>
            <a:ext cx="2712568" cy="2011680"/>
          </a:xfrm>
          <a:prstGeom prst="roundRect">
            <a:avLst>
              <a:gd name="adj" fmla="val 3636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4688" y="4361688"/>
            <a:ext cx="24382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避けること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44688" y="4681728"/>
            <a:ext cx="243824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調べればわかることや、待遇だけを聞く質問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逆質問づくりシート（記入用）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11535" y="2286000"/>
            <a:ext cx="457200" cy="45720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9" name="Text 7"/>
          <p:cNvSpPr/>
          <p:nvPr/>
        </p:nvSpPr>
        <p:spPr>
          <a:xfrm>
            <a:off x="10911535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11535" y="4503420"/>
            <a:ext cx="457200" cy="45720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11" name="Text 9"/>
          <p:cNvSpPr/>
          <p:nvPr/>
        </p:nvSpPr>
        <p:spPr>
          <a:xfrm>
            <a:off x="10911535" y="45034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5455768" cy="2439162"/>
          </a:xfrm>
          <a:prstGeom prst="roundRect">
            <a:avLst>
              <a:gd name="adj" fmla="val 2999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77240" y="1938528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知りたいこと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518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質問したい内容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2779776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7240" y="3090672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77240" y="3401568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77240" y="3712464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7240" y="4023360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423410"/>
            <a:ext cx="5455768" cy="1885950"/>
          </a:xfrm>
          <a:prstGeom prst="roundRect">
            <a:avLst>
              <a:gd name="adj" fmla="val 3879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" y="4487418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聞く理由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789170"/>
            <a:ext cx="518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なぜ知りたいのか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" y="5328666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77240" y="5639562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77240" y="5950458"/>
            <a:ext cx="518144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324448" y="1874520"/>
            <a:ext cx="4495648" cy="2125980"/>
          </a:xfrm>
          <a:prstGeom prst="roundRect">
            <a:avLst>
              <a:gd name="adj" fmla="val 3441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61608" y="1938528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聞き方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61608" y="2240280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伝え方の工夫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61608" y="2779776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61608" y="3090672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461608" y="3401568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61608" y="3712464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324448" y="4183380"/>
            <a:ext cx="4495648" cy="2125980"/>
          </a:xfrm>
          <a:prstGeom prst="roundRect">
            <a:avLst>
              <a:gd name="adj" fmla="val 3441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461608" y="4247388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避けること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61608" y="4549140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やめておく質問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61608" y="5088636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461608" y="5399532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461608" y="5710428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461608" y="6021324"/>
            <a:ext cx="422132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2026-10-14T13:47:42Z</dcterms:created>
  <dcterms:modified xsi:type="dcterms:W3CDTF">2026-10-14T13:47:42Z</dcterms:modified>
</cp:coreProperties>
</file>