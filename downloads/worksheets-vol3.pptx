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554480"/>
            <a:ext cx="475488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4533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第3弾｜サークル・委員会リーダー向け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リーダーのためのワークシート集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成長段階診断／面談／工程表／新歓作戦／顧客インタビュー／リーンキャンバス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すべて無料・学生団体のみなさんは自由に使えます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使い方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1つのワークは2枚。まず例を読み、次に白紙に書きます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77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682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04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解説と記入例を読む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意味・狙い・効果と、サークルでの記入例を確認します。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210312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377440"/>
            <a:ext cx="548640" cy="548640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3682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040" dirty="0"/>
          </a:p>
        </p:txBody>
      </p:sp>
      <p:sp>
        <p:nvSpPr>
          <p:cNvPr id="12" name="Text 10"/>
          <p:cNvSpPr/>
          <p:nvPr/>
        </p:nvSpPr>
        <p:spPr>
          <a:xfrm>
            <a:off x="4617720" y="3108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白紙のシートに書く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5661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自分のサークルについて、思いつくまま書き込みます。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210312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377440"/>
            <a:ext cx="548640" cy="548640"/>
          </a:xfrm>
          <a:prstGeom prst="ellipse">
            <a:avLst/>
          </a:prstGeom>
          <a:solidFill>
            <a:srgbClr val="C05A5A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3682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040" dirty="0"/>
          </a:p>
        </p:txBody>
      </p:sp>
      <p:sp>
        <p:nvSpPr>
          <p:cNvPr id="17" name="Text 15"/>
          <p:cNvSpPr/>
          <p:nvPr/>
        </p:nvSpPr>
        <p:spPr>
          <a:xfrm>
            <a:off x="8321040" y="3108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メンバーと見せ合う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35661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幹部や仲間と読み合い、直して決定版にします。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394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※記入例は架空の「ひだまりテニスサークル（部員40名）」のものです。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941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チームの成長段階診断（タックマンモデル）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今のチームがどの段階にいるかを知り、次の一手を決める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911535" cy="1481328"/>
          </a:xfrm>
          <a:prstGeom prst="roundRect">
            <a:avLst>
              <a:gd name="adj" fmla="val 4938"/>
            </a:avLst>
          </a:prstGeom>
          <a:solidFill>
            <a:srgbClr val="EEF3FD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チームは形成期・混乱期・統一期・機能期の4段階で育つという考え方。今どこにいるかを見る。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60138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460138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60138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今のチームに合った関わり方を選ぶ。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7317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4" name="Text 12"/>
          <p:cNvSpPr/>
          <p:nvPr/>
        </p:nvSpPr>
        <p:spPr>
          <a:xfrm>
            <a:off x="8097317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得られる効果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97317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ぶつかり合いを失敗と思わず、次の段階へ進む手を打てる。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538728"/>
            <a:ext cx="10911535" cy="2816352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630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記入例：ひだまりテニスサークル（架空）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404164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03250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今の段階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54680" y="3977640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混乱期。意見がぶつかり、新入生は様子見が増えている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462000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61086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その根拠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54680" y="4555998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会議で先輩同士が言い合い、決めたことが守られない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5198364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18922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リーダーの動き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54680" y="5134356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目的を言い直し、決め方のルールを全員で決める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68680" y="5776722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76757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次へ進む条件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54680" y="5712714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役割と決め方が全員に共有され、揉め事が減る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941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チームの成長段階診断（タックマンモデル）（記入用）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あなたのサークルについて書きましょう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9149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0591495" y="44805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77240" y="2002536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933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今の段階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240487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4つのどれに近いか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" y="288036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04672" y="324612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233008" y="187452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370168" y="2002536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370168" y="19933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その根拠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97600" y="240487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どんな様子からそう思うか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97600" y="288036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397600" y="324612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40080" y="422910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77240" y="4357116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4797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リーダーの動き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475945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今の段階で何をするか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" y="523494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04672" y="560070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233008" y="422910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370168" y="4357116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6370168" y="434797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次へ進む条件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97600" y="475945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何が変われば次の段階か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97600" y="523494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397600" y="560070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941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メンバー面談シート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1対1で話す前に、聞くことと次の一歩を整理する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911535" cy="1481328"/>
          </a:xfrm>
          <a:prstGeom prst="roundRect">
            <a:avLst>
              <a:gd name="adj" fmla="val 4938"/>
            </a:avLst>
          </a:prstGeom>
          <a:solidFill>
            <a:srgbClr val="EEF3FD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メンバーと1対1で話す前に、様子・聞くこと・結果を整理するシート。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60138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460138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60138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困りごとを早めに知り、辞める前に手を打つ。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7317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4" name="Text 12"/>
          <p:cNvSpPr/>
          <p:nvPr/>
        </p:nvSpPr>
        <p:spPr>
          <a:xfrm>
            <a:off x="8097317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得られる効果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97317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メンバーとの信頼が深まり、活動への参加が続きやすくなる。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538728"/>
            <a:ext cx="10911535" cy="2816352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630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8E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記入例：ひだまりテニスサークル（架空）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404164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03250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最近の様子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54680" y="3977640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2年のBさんが、最近練習を休みがち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462000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61086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聞くこと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54680" y="4555998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忙しさ、サークルでの楽しさ、困っていること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5198364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18922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聞いたこと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54680" y="5134356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バイトのシフトが増えた。でも辞めたくはない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68680" y="5776722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76757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次の一歩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54680" y="5712714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役割を軽くして、月1回の面談を続ける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941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メンバー面談シート（記入用）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あなたのサークルについて書きましょう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9149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0591495" y="44805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77240" y="2002536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9339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最近の様子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240487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気になっていること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" y="288036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04672" y="324612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233008" y="187452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370168" y="2002536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6" name="Text 14"/>
          <p:cNvSpPr/>
          <p:nvPr/>
        </p:nvSpPr>
        <p:spPr>
          <a:xfrm>
            <a:off x="6370168" y="19933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聞くこと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97600" y="240487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話したいテーマ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97600" y="288036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397600" y="324612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40080" y="422910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77240" y="4357116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4797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聞いたこと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475945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相手が話した内容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" y="523494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04672" y="560070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233008" y="422910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370168" y="4357116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28" name="Text 26"/>
          <p:cNvSpPr/>
          <p:nvPr/>
        </p:nvSpPr>
        <p:spPr>
          <a:xfrm>
            <a:off x="6370168" y="434797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次の一歩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97600" y="475945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一緒に決めたこと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97600" y="523494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397600" y="560070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C05A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941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工程表づくり（ガントチャート）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期限から逆算して、いつ何をするかを並べる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911535" cy="1481328"/>
          </a:xfrm>
          <a:prstGeom prst="roundRect">
            <a:avLst>
              <a:gd name="adj" fmla="val 4938"/>
            </a:avLst>
          </a:prstGeom>
          <a:solidFill>
            <a:srgbClr val="EEF3FD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完成の期限から逆算して、作業を週ごとに並べた工程表をつくること。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60138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460138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60138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間に合わない作業を、早い段階で見つける。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7317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4" name="Text 12"/>
          <p:cNvSpPr/>
          <p:nvPr/>
        </p:nvSpPr>
        <p:spPr>
          <a:xfrm>
            <a:off x="8097317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得られる効果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97317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直前の徹夜や混乱が減り、担当者が先を見て動ける。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538728"/>
            <a:ext cx="10911535" cy="2816352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630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5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記入例：ひだまりテニスサークル（架空）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404164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C05A5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03250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期限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54680" y="3977640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夏合宿：8月20日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462000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C05A5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61086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節目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54680" y="4555998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宿の確定6/1／参加者の確定7/10／しおりの完成8/10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5198364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C05A5A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18922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週ごとの作業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54680" y="5134356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5月第2週：宿へ見積もり依頼／5月第4週：参加アンケート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68680" y="5776722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C05A5A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76757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遅れそうな作業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54680" y="5712714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参加者の確定。締切を1週間早めて余裕をつくる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C05A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941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工程表づくり（ガントチャート）（記入用）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あなたのサークルについて書きましょう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9149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0591495" y="44805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77240" y="2002536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C05A5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9339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期限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240487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いつまでに完成させるか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" y="288036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04672" y="324612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233008" y="187452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370168" y="2002536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C05A5A"/>
          </a:solidFill>
          <a:ln/>
        </p:spPr>
      </p:sp>
      <p:sp>
        <p:nvSpPr>
          <p:cNvPr id="16" name="Text 14"/>
          <p:cNvSpPr/>
          <p:nvPr/>
        </p:nvSpPr>
        <p:spPr>
          <a:xfrm>
            <a:off x="6370168" y="199339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節目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97600" y="240487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逆算した大きな締切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97600" y="288036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397600" y="324612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40080" y="422910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77240" y="4357116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C05A5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4797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週ごとの作業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475945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週に何をするか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" y="523494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04672" y="560070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233008" y="422910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370168" y="4357116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C05A5A"/>
          </a:solidFill>
          <a:ln/>
        </p:spPr>
      </p:sp>
      <p:sp>
        <p:nvSpPr>
          <p:cNvPr id="28" name="Text 26"/>
          <p:cNvSpPr/>
          <p:nvPr/>
        </p:nvSpPr>
        <p:spPr>
          <a:xfrm>
            <a:off x="6370168" y="434797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遅れそうな作業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97600" y="475945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先に手を打つこと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97600" y="523494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397600" y="560070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6C4C8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941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新歓・勧誘の作戦シート（STP・4P）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誰に、何を、どう伝えるかを決めてから動く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911535" cy="1481328"/>
          </a:xfrm>
          <a:prstGeom prst="roundRect">
            <a:avLst>
              <a:gd name="adj" fmla="val 4938"/>
            </a:avLst>
          </a:prstGeom>
          <a:solidFill>
            <a:srgbClr val="EEF3FD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狙う相手を決め（STP）、内容・条件・場所・伝え方（4P）をそろえる方法。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60138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460138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60138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誰にでも向けた勧誘をやめて、刺さる伝え方にする。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7317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4" name="Text 12"/>
          <p:cNvSpPr/>
          <p:nvPr/>
        </p:nvSpPr>
        <p:spPr>
          <a:xfrm>
            <a:off x="8097317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得られる効果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97317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体験会の参加者や入部者が増え、準備の無駄が減る。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538728"/>
            <a:ext cx="10911535" cy="2816352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630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4C8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記入例：ひだまりテニスサークル（架空）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404164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6C4C8C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03250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誰に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54680" y="3977640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運動不足が気になる新入生。特に未経験の人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462000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6C4C8C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61086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約束すること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54680" y="4555998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未経験でも、週1回から楽しめる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5198364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6C4C8C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18922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伝え方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54680" y="5134356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昼休みの体験会、SNS、未経験の先輩の声を載せたビラ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68680" y="5776722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6C4C8C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76757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54680" y="5712714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年会費2,000円／昼休みに中庭で体験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6C4C8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941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新歓・勧誘の作戦シート（STP・4P）（記入用）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あなたのサークルについて書きましょう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9149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0591495" y="44805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77240" y="2002536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6C4C8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9339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誰に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240487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狙う相手を絞る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" y="288036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04672" y="324612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233008" y="187452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370168" y="2002536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6C4C8C"/>
          </a:solidFill>
          <a:ln/>
        </p:spPr>
      </p:sp>
      <p:sp>
        <p:nvSpPr>
          <p:cNvPr id="16" name="Text 14"/>
          <p:cNvSpPr/>
          <p:nvPr/>
        </p:nvSpPr>
        <p:spPr>
          <a:xfrm>
            <a:off x="6370168" y="199339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約束すること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97600" y="240487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その人にとっての価値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97600" y="288036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397600" y="324612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40080" y="422910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77240" y="435711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6C4C8C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4797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伝え方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475945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どこでどう知らせるか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" y="523494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04672" y="560070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233008" y="422910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370168" y="4357116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6C4C8C"/>
          </a:solidFill>
          <a:ln/>
        </p:spPr>
      </p:sp>
      <p:sp>
        <p:nvSpPr>
          <p:cNvPr id="28" name="Text 26"/>
          <p:cNvSpPr/>
          <p:nvPr/>
        </p:nvSpPr>
        <p:spPr>
          <a:xfrm>
            <a:off x="6370168" y="434797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97600" y="475945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費用・場所・時間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97600" y="523494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397600" y="560070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941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顧客インタビュー設計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アイデアが本当に必要とされているかを、聞いて確かめる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911535" cy="1481328"/>
          </a:xfrm>
          <a:prstGeom prst="roundRect">
            <a:avLst>
              <a:gd name="adj" fmla="val 4938"/>
            </a:avLst>
          </a:prstGeom>
          <a:solidFill>
            <a:srgbClr val="EEF3FD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アイデアの前提（仮説）を、相手の過去の経験を聞いて確かめるための準備。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60138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460138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60138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思い込みで進むことを防ぐ。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7317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4" name="Text 12"/>
          <p:cNvSpPr/>
          <p:nvPr/>
        </p:nvSpPr>
        <p:spPr>
          <a:xfrm>
            <a:off x="8097317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得られる効果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97317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作る前に、必要とされているかを判断できる。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538728"/>
            <a:ext cx="10911535" cy="2816352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630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記入例：学生起業のアイデア例（架空）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404164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03250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確かめたい仮説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54680" y="3977640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試験前、1〜2年生は勉強仲間が見つからず困っている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462000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61086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聞く相手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54680" y="4555998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1〜2年生10人。学部が違う人も入れる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5198364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18922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聞く質問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54680" y="5134356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前回の試験勉強はどうしましたか？／そのとき困ったことは？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68680" y="5776722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76757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判断の基準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54680" y="5712714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10人中6人が同じ困りごとを挙げたら、試作に進む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941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顧客インタビュー設計（記入用）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あなたのサークルについて書きましょう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9149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0591495" y="44805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77240" y="2002536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933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確かめたい仮説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240487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本当に困っているか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" y="288036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04672" y="324612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233008" y="187452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370168" y="2002536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370168" y="19933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聞く相手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97600" y="240487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誰に何人聞くか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97600" y="288036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397600" y="324612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40080" y="422910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77240" y="4357116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4797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聞く質問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475945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過去の事実を聞く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" y="523494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04672" y="560070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233008" y="422910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370168" y="4357116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370168" y="434797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判断の基準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97600" y="475945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次に進む条件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97600" y="523494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397600" y="560070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941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リーンキャンバス（かんたん版）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事業の骨組みを、1枚に書き出す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911535" cy="1481328"/>
          </a:xfrm>
          <a:prstGeom prst="roundRect">
            <a:avLst>
              <a:gd name="adj" fmla="val 4938"/>
            </a:avLst>
          </a:prstGeom>
          <a:solidFill>
            <a:srgbClr val="EEF3FD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課題・解決策・価値・お金の流れを1枚に書き、事業の全体像を見る方法。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60138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460138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60138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抜けている部分を見つけ、仲間と共有する。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7317" y="202082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4" name="Text 12"/>
          <p:cNvSpPr/>
          <p:nvPr/>
        </p:nvSpPr>
        <p:spPr>
          <a:xfrm>
            <a:off x="8097317" y="201168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得られる効果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97317" y="2404872"/>
            <a:ext cx="345429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アイデアが事業として成り立つかを、早く確かめられる。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538728"/>
            <a:ext cx="10911535" cy="2816352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630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記入例：学生起業のアイデア例（架空）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404164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03250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課題と顧客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54680" y="3977640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勉強仲間が見つからない、1〜2年生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462000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61086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解決策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54680" y="4555998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科目ごとの勉強会を、学内SNSで募集・参加できる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5198364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18922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独自の価値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54680" y="5134356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学部をこえて、同じ科目の仲間が見つかる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68680" y="5776722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76757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お金の流れ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54680" y="5712714"/>
            <a:ext cx="8168335" cy="532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学生は無料。大学や学内の企業の協賛で運営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941832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9418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リーンキャンバス（かんたん版）（記入用）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あなたのサークルについて書きましょう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9149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0591495" y="44805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77240" y="2002536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9339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課題と顧客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240487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誰のどんな困りごとか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" y="288036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04672" y="324612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233008" y="187452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370168" y="2002536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16" name="Text 14"/>
          <p:cNvSpPr/>
          <p:nvPr/>
        </p:nvSpPr>
        <p:spPr>
          <a:xfrm>
            <a:off x="6370168" y="199339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解決策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97600" y="240487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どう解決するか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97600" y="288036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397600" y="324612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40080" y="422910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77240" y="4357116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34797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独自の価値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475945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他と何が違うか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" y="523494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04672" y="560070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233008" y="4229100"/>
            <a:ext cx="5318608" cy="208026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370168" y="4357116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28" name="Text 26"/>
          <p:cNvSpPr/>
          <p:nvPr/>
        </p:nvSpPr>
        <p:spPr>
          <a:xfrm>
            <a:off x="6370168" y="434797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お金の流れ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97600" y="4759452"/>
            <a:ext cx="498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誰がどう負担するか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97600" y="523494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397600" y="5600700"/>
            <a:ext cx="4989424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2026-10-13T07:01:55Z</dcterms:created>
  <dcterms:modified xsi:type="dcterms:W3CDTF">2026-10-13T07:01:55Z</dcterms:modified>
</cp:coreProperties>
</file>