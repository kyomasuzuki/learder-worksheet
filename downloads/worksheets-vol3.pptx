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572000" cy="4572000"/>
          </a:xfrm>
          <a:prstGeom prst="ellipse">
            <a:avLst/>
          </a:prstGeom>
          <a:solidFill>
            <a:srgbClr val="141B4D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554480"/>
            <a:ext cx="475488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45336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第3弾｜サークル・委員会リーダー向け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リーダーのためのワークシート集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108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成長段階診断／面談／工程表／新歓作戦／顧客インタビュー／リーンキャンバス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すべて無料・学生団体のみなさんは自由に使えます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1つのワークは2枚。まず例を読み、次に白紙に書きます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774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解説と記入例を読む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意味・狙い・効果と、サークルでの記入例を確認します。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377440"/>
            <a:ext cx="548640" cy="548640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7720" y="31089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白紙のシートに書く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自分のサークルについて、思いつくまま書き込みます。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210312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2377440"/>
            <a:ext cx="548640" cy="548640"/>
          </a:xfrm>
          <a:prstGeom prst="ellipse">
            <a:avLst/>
          </a:prstGeom>
          <a:solidFill>
            <a:srgbClr val="C05A5A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21040" y="31089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メンバーと見せ合う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0" y="35661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幹部や仲間と読み合い、直して決定版にします。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394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※記入例は架空のサークル・架空のアイデアです。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チームの成長段階診断（タックマンモデル）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今のチームがどの段階にいるかを知り、次の一手を決める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75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665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チームは形成期・混乱期・統一期・機能期の4段階で育つという考え方。今どこにいるかを見る。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5948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692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6006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396240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今のチームに合った関わり方を選ぶ。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95300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062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053584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45592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ぶつかり合いを失敗と思わず、次の段階へ進む手を打てる。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73453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03668" y="3611880"/>
            <a:ext cx="1211987" cy="594360"/>
          </a:xfrm>
          <a:prstGeom prst="rect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49388" y="3657600"/>
            <a:ext cx="1120547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形成期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749388" y="3941064"/>
            <a:ext cx="1120547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顔合わせ・様子見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915654" y="3154680"/>
            <a:ext cx="1211987" cy="1051560"/>
          </a:xfrm>
          <a:prstGeom prst="rect">
            <a:avLst/>
          </a:prstGeom>
          <a:solidFill>
            <a:srgbClr val="E891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61374" y="3200400"/>
            <a:ext cx="1120547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混乱期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961374" y="3483864"/>
            <a:ext cx="1120547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意見がぶつかる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064448" y="278892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26" name="Text 24"/>
          <p:cNvSpPr/>
          <p:nvPr/>
        </p:nvSpPr>
        <p:spPr>
          <a:xfrm>
            <a:off x="8064448" y="277977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今ここ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127641" y="2697480"/>
            <a:ext cx="1211987" cy="1508760"/>
          </a:xfrm>
          <a:prstGeom prst="rect">
            <a:avLst/>
          </a:prstGeom>
          <a:solidFill>
            <a:srgbClr val="4D5CB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73361" y="2743200"/>
            <a:ext cx="1120547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統一期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173361" y="3026664"/>
            <a:ext cx="1120547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役割とルールが固まる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339628" y="2240280"/>
            <a:ext cx="1211987" cy="1965960"/>
          </a:xfrm>
          <a:prstGeom prst="rect">
            <a:avLst/>
          </a:prstGeom>
          <a:solidFill>
            <a:srgbClr val="6574C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385348" y="2286000"/>
            <a:ext cx="1120547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機能期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0385348" y="2569464"/>
            <a:ext cx="1120547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自走して成果が出る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206240" y="2103120"/>
            <a:ext cx="2314548" cy="2103120"/>
          </a:xfrm>
          <a:prstGeom prst="roundRect">
            <a:avLst>
              <a:gd name="adj" fmla="val 3478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43400" y="2167128"/>
            <a:ext cx="204022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E891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今の段階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343400" y="2487168"/>
            <a:ext cx="2040228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混乱期。意見がぶつかり、新入生は様子見が増えている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06240" y="4389120"/>
            <a:ext cx="2326538" cy="1920240"/>
          </a:xfrm>
          <a:prstGeom prst="roundRect">
            <a:avLst>
              <a:gd name="adj" fmla="val 3810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43400" y="4453128"/>
            <a:ext cx="205221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その根拠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343400" y="4773168"/>
            <a:ext cx="205221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会議で先輩同士が言い合い、決めたことが守られない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715658" y="4389120"/>
            <a:ext cx="2326538" cy="1920240"/>
          </a:xfrm>
          <a:prstGeom prst="roundRect">
            <a:avLst>
              <a:gd name="adj" fmla="val 3810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2818" y="4453128"/>
            <a:ext cx="205221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3E8E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リーダーの動き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852818" y="4773168"/>
            <a:ext cx="205221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目的を言い直し、決め方のルールを全員で決める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225077" y="4389120"/>
            <a:ext cx="2326538" cy="1920240"/>
          </a:xfrm>
          <a:prstGeom prst="roundRect">
            <a:avLst>
              <a:gd name="adj" fmla="val 3810"/>
            </a:avLst>
          </a:prstGeom>
          <a:solidFill>
            <a:srgbClr val="F0EDF4"/>
          </a:solidFill>
          <a:ln w="19050">
            <a:solidFill>
              <a:srgbClr val="6C4C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62237" y="4453128"/>
            <a:ext cx="205221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6C4C8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次へ進む条件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9362237" y="4773168"/>
            <a:ext cx="205221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役割と決め方が全員に共有され、揉め事が減る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チームの成長段階診断（タックマンモデル）（記入用）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0002" y="3383280"/>
            <a:ext cx="1800403" cy="594360"/>
          </a:xfrm>
          <a:prstGeom prst="rect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95722" y="3429000"/>
            <a:ext cx="170896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形成期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395722" y="3712464"/>
            <a:ext cx="1708963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顔合わせ・様子見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150405" y="2926080"/>
            <a:ext cx="1800403" cy="1051560"/>
          </a:xfrm>
          <a:prstGeom prst="rect">
            <a:avLst/>
          </a:prstGeom>
          <a:solidFill>
            <a:srgbClr val="3441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96125" y="2971800"/>
            <a:ext cx="170896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混乱期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96125" y="3255264"/>
            <a:ext cx="1708963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意見がぶつかる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950809" y="2468880"/>
            <a:ext cx="1800403" cy="1508760"/>
          </a:xfrm>
          <a:prstGeom prst="rect">
            <a:avLst/>
          </a:prstGeom>
          <a:solidFill>
            <a:srgbClr val="4D5CB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96529" y="2514600"/>
            <a:ext cx="170896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統一期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96529" y="2798064"/>
            <a:ext cx="1708963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役割とルールが固まる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751212" y="2011680"/>
            <a:ext cx="1800403" cy="1965960"/>
          </a:xfrm>
          <a:prstGeom prst="rect">
            <a:avLst/>
          </a:prstGeom>
          <a:solidFill>
            <a:srgbClr val="6574C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96932" y="2057400"/>
            <a:ext cx="170896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機能期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796932" y="2340864"/>
            <a:ext cx="1708963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自走して成果が出る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40080" y="1874520"/>
            <a:ext cx="3527042" cy="2103120"/>
          </a:xfrm>
          <a:prstGeom prst="roundRect">
            <a:avLst>
              <a:gd name="adj" fmla="val 3478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777240" y="1938528"/>
            <a:ext cx="325272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E891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今の段階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2240280"/>
            <a:ext cx="325272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4つのどれに近いか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77240" y="2779776"/>
            <a:ext cx="3252722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77240" y="3090672"/>
            <a:ext cx="3252722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77240" y="3401568"/>
            <a:ext cx="3252722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777240" y="3712464"/>
            <a:ext cx="3252722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40080" y="416052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777240" y="4224528"/>
            <a:ext cx="324093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その根拠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77240" y="4526280"/>
            <a:ext cx="324093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どんな様子からそう思うか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77240" y="5065776"/>
            <a:ext cx="324093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777240" y="5376672"/>
            <a:ext cx="324093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777240" y="5687568"/>
            <a:ext cx="324093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777240" y="5998464"/>
            <a:ext cx="324093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4338218" y="416052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4475378" y="4224528"/>
            <a:ext cx="324093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3E8E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リーダーの動き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475378" y="4526280"/>
            <a:ext cx="324093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今の段階で何をするか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475378" y="5065776"/>
            <a:ext cx="324093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475378" y="5376672"/>
            <a:ext cx="324093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475378" y="5687568"/>
            <a:ext cx="324093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475378" y="5998464"/>
            <a:ext cx="324093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036357" y="416052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F0EDF4"/>
          </a:solidFill>
          <a:ln w="19050">
            <a:solidFill>
              <a:srgbClr val="6C4C8C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8173517" y="4224528"/>
            <a:ext cx="324093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6C4C8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次へ進む条件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8173517" y="4526280"/>
            <a:ext cx="324093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何が変われば次の段階か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73517" y="5065776"/>
            <a:ext cx="324093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8173517" y="5376672"/>
            <a:ext cx="324093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8173517" y="5687568"/>
            <a:ext cx="324093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8173517" y="5998464"/>
            <a:ext cx="324093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メンバー面談シート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1対1で話す前に、聞くことと次の一歩を整理する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75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665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メンバーと1対1で話す前に、様子・聞くこと・結果を整理するシート。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5948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692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6006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396240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困りごとを早めに知り、辞める前に手を打つ。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95300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062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053584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45592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メンバーとの信頼が深まり、活動への参加が続きやすくなる。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73453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3E8E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2103120"/>
            <a:ext cx="2827215" cy="502920"/>
          </a:xfrm>
          <a:prstGeom prst="chevron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0" y="2103120"/>
            <a:ext cx="24614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面談の前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942015" y="2103120"/>
            <a:ext cx="2239585" cy="502920"/>
          </a:xfrm>
          <a:prstGeom prst="chevron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7216335" y="2103120"/>
            <a:ext cx="187382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面談の中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81600" y="2103120"/>
            <a:ext cx="2461455" cy="502920"/>
          </a:xfrm>
          <a:prstGeom prst="chevron">
            <a:avLst/>
          </a:prstGeom>
          <a:solidFill>
            <a:srgbClr val="3E8E5A"/>
          </a:solidFill>
          <a:ln/>
        </p:spPr>
      </p:sp>
      <p:sp>
        <p:nvSpPr>
          <p:cNvPr id="24" name="Text 22"/>
          <p:cNvSpPr/>
          <p:nvPr/>
        </p:nvSpPr>
        <p:spPr>
          <a:xfrm>
            <a:off x="9455920" y="2103120"/>
            <a:ext cx="2095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面談の後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06240" y="2743200"/>
            <a:ext cx="2644335" cy="1709928"/>
          </a:xfrm>
          <a:prstGeom prst="roundRect">
            <a:avLst>
              <a:gd name="adj" fmla="val 4278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43400" y="2807208"/>
            <a:ext cx="237001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最近の様子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343400" y="3127248"/>
            <a:ext cx="2370015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2年のBさんが、最近練習を休みがち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06240" y="4599432"/>
            <a:ext cx="2644335" cy="1709928"/>
          </a:xfrm>
          <a:prstGeom prst="roundRect">
            <a:avLst>
              <a:gd name="adj" fmla="val 4278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43400" y="4663440"/>
            <a:ext cx="237001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聞くこと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343400" y="4983480"/>
            <a:ext cx="2370015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忙しさ、サークルでの楽しさ、困っていること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33455" y="2743200"/>
            <a:ext cx="2056705" cy="3566160"/>
          </a:xfrm>
          <a:prstGeom prst="roundRect">
            <a:avLst>
              <a:gd name="adj" fmla="val 3557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0615" y="2807208"/>
            <a:ext cx="178238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聞いたこと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170615" y="3127248"/>
            <a:ext cx="1782385" cy="3127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バイトのシフトが増えた。でも辞めたくはない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273040" y="2743200"/>
            <a:ext cx="2278575" cy="3566160"/>
          </a:xfrm>
          <a:prstGeom prst="roundRect">
            <a:avLst>
              <a:gd name="adj" fmla="val 3210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10200" y="2807208"/>
            <a:ext cx="200425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3E8E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次の一歩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410200" y="3127248"/>
            <a:ext cx="2004255" cy="3127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役割を軽くして、月1回の面談を続ける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メンバー面談シート（記入用）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4111033" cy="502920"/>
          </a:xfrm>
          <a:prstGeom prst="chevron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74520"/>
            <a:ext cx="374527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面談の前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59673" y="1874520"/>
            <a:ext cx="3238110" cy="502920"/>
          </a:xfrm>
          <a:prstGeom prst="chevron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933993" y="1874520"/>
            <a:ext cx="28723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面談の中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97783" y="1874520"/>
            <a:ext cx="3745273" cy="502920"/>
          </a:xfrm>
          <a:prstGeom prst="chevron">
            <a:avLst/>
          </a:prstGeom>
          <a:solidFill>
            <a:srgbClr val="3E8E5A"/>
          </a:solidFill>
          <a:ln/>
        </p:spPr>
      </p:sp>
      <p:sp>
        <p:nvSpPr>
          <p:cNvPr id="13" name="Text 11"/>
          <p:cNvSpPr/>
          <p:nvPr/>
        </p:nvSpPr>
        <p:spPr>
          <a:xfrm>
            <a:off x="8172103" y="1874520"/>
            <a:ext cx="337951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面談の後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2514600"/>
            <a:ext cx="3928153" cy="1824228"/>
          </a:xfrm>
          <a:prstGeom prst="roundRect">
            <a:avLst>
              <a:gd name="adj" fmla="val 4010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77240" y="2578608"/>
            <a:ext cx="365383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最近の様子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77240" y="2880360"/>
            <a:ext cx="3653833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気になっていること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77240" y="3419856"/>
            <a:ext cx="365383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77240" y="3730752"/>
            <a:ext cx="365383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77240" y="4041648"/>
            <a:ext cx="365383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485132"/>
            <a:ext cx="3928153" cy="1824228"/>
          </a:xfrm>
          <a:prstGeom prst="roundRect">
            <a:avLst>
              <a:gd name="adj" fmla="val 4010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777240" y="4549140"/>
            <a:ext cx="365383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聞くこと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4850892"/>
            <a:ext cx="3653833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話したいテーマ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77240" y="5390388"/>
            <a:ext cx="365383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77240" y="5701284"/>
            <a:ext cx="365383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77240" y="6012180"/>
            <a:ext cx="365383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751113" y="2514600"/>
            <a:ext cx="3055230" cy="3794760"/>
          </a:xfrm>
          <a:prstGeom prst="roundRect">
            <a:avLst>
              <a:gd name="adj" fmla="val 2394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4888273" y="2578608"/>
            <a:ext cx="278091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聞いたこと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888273" y="2880360"/>
            <a:ext cx="278091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相手が話した内容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88273" y="3419856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888273" y="3730752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888273" y="4041648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888273" y="4352544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4888273" y="4663440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4888273" y="4974336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88273" y="5285232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88273" y="5596128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88273" y="5907024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7989223" y="2514600"/>
            <a:ext cx="3562393" cy="3794760"/>
          </a:xfrm>
          <a:prstGeom prst="roundRect">
            <a:avLst>
              <a:gd name="adj" fmla="val 2053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8126383" y="2578608"/>
            <a:ext cx="328807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3E8E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次の一歩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126383" y="2880360"/>
            <a:ext cx="3288073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一緒に決めたこと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126383" y="3419856"/>
            <a:ext cx="328807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8126383" y="3730752"/>
            <a:ext cx="328807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26383" y="4041648"/>
            <a:ext cx="328807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8126383" y="4352544"/>
            <a:ext cx="328807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8126383" y="4663440"/>
            <a:ext cx="328807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8126383" y="4974336"/>
            <a:ext cx="328807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8126383" y="5285232"/>
            <a:ext cx="328807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8126383" y="5596128"/>
            <a:ext cx="328807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8126383" y="5907024"/>
            <a:ext cx="3288073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工程表づくり（ガントチャート）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期限から逆算して、いつ何をするかを並べる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75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665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完成の期限から逆算して、作業を週ごとに並べた工程表をつくること。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5948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692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6006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396240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間に合わない作業を、早い段階で見つける。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95300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062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053584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45592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直前の徹夜や混乱が減り、担当者が先を見て動ける。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73453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05A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2103120"/>
            <a:ext cx="1909798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79392" y="2103120"/>
            <a:ext cx="19097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16038" y="2103120"/>
            <a:ext cx="679447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16038" y="2103120"/>
            <a:ext cx="67944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5月前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795485" y="2103120"/>
            <a:ext cx="679447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95485" y="2103120"/>
            <a:ext cx="67944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5月後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474932" y="2103120"/>
            <a:ext cx="679447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74932" y="2103120"/>
            <a:ext cx="67944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6月前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4379" y="2103120"/>
            <a:ext cx="679447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54379" y="2103120"/>
            <a:ext cx="67944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6月後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833826" y="2103120"/>
            <a:ext cx="679447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33826" y="2103120"/>
            <a:ext cx="67944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7月前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513274" y="2103120"/>
            <a:ext cx="679447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13274" y="2103120"/>
            <a:ext cx="67944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7月後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192721" y="2103120"/>
            <a:ext cx="679447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192721" y="2103120"/>
            <a:ext cx="67944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8月前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872168" y="2103120"/>
            <a:ext cx="679447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872168" y="2103120"/>
            <a:ext cx="67944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8月後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206240" y="2514600"/>
            <a:ext cx="1909798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79392" y="2514600"/>
            <a:ext cx="181835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宿の見積もり・予約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16038" y="2514600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795485" y="2514600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74932" y="2514600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54379" y="2514600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33826" y="2514600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513274" y="2514600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2721" y="2514600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872168" y="2514600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152614" y="2642616"/>
            <a:ext cx="1285742" cy="256032"/>
          </a:xfrm>
          <a:prstGeom prst="roundRect">
            <a:avLst>
              <a:gd name="adj" fmla="val 17857"/>
            </a:avLst>
          </a:prstGeom>
          <a:solidFill>
            <a:srgbClr val="028090"/>
          </a:solidFill>
          <a:ln/>
        </p:spPr>
      </p:sp>
      <p:sp>
        <p:nvSpPr>
          <p:cNvPr id="48" name="Shape 46"/>
          <p:cNvSpPr/>
          <p:nvPr/>
        </p:nvSpPr>
        <p:spPr>
          <a:xfrm>
            <a:off x="7365204" y="2642616"/>
            <a:ext cx="256032" cy="256032"/>
          </a:xfrm>
          <a:prstGeom prst="diamond">
            <a:avLst/>
          </a:prstGeom>
          <a:solidFill>
            <a:srgbClr val="E8913A"/>
          </a:solidFill>
          <a:ln/>
        </p:spPr>
      </p:sp>
      <p:sp>
        <p:nvSpPr>
          <p:cNvPr id="49" name="Text 47"/>
          <p:cNvSpPr/>
          <p:nvPr/>
        </p:nvSpPr>
        <p:spPr>
          <a:xfrm>
            <a:off x="6697692" y="2514600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6/1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206240" y="3026664"/>
            <a:ext cx="1909798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79392" y="3026664"/>
            <a:ext cx="181835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募集・アンケート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116038" y="3026664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795485" y="3026664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474932" y="3026664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54379" y="3026664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33826" y="3026664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513274" y="3026664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192721" y="3026664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872168" y="3026664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832061" y="3154680"/>
            <a:ext cx="1965190" cy="256032"/>
          </a:xfrm>
          <a:prstGeom prst="roundRect">
            <a:avLst>
              <a:gd name="adj" fmla="val 17857"/>
            </a:avLst>
          </a:prstGeom>
          <a:solidFill>
            <a:srgbClr val="028090"/>
          </a:solidFill>
          <a:ln/>
        </p:spPr>
      </p:sp>
      <p:sp>
        <p:nvSpPr>
          <p:cNvPr id="61" name="Shape 59"/>
          <p:cNvSpPr/>
          <p:nvPr/>
        </p:nvSpPr>
        <p:spPr>
          <a:xfrm>
            <a:off x="4206240" y="3538728"/>
            <a:ext cx="1909798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279392" y="3538728"/>
            <a:ext cx="181835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参加者の確定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116038" y="3538728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795485" y="3538728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74932" y="3538728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54379" y="3538728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833826" y="3538728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513274" y="3538728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192721" y="3538728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872168" y="3538728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870402" y="3666744"/>
            <a:ext cx="606295" cy="256032"/>
          </a:xfrm>
          <a:prstGeom prst="roundRect">
            <a:avLst>
              <a:gd name="adj" fmla="val 17857"/>
            </a:avLst>
          </a:prstGeom>
          <a:solidFill>
            <a:srgbClr val="028090"/>
          </a:solidFill>
          <a:ln/>
        </p:spPr>
      </p:sp>
      <p:sp>
        <p:nvSpPr>
          <p:cNvPr id="72" name="Shape 70"/>
          <p:cNvSpPr/>
          <p:nvPr/>
        </p:nvSpPr>
        <p:spPr>
          <a:xfrm>
            <a:off x="9403546" y="3666744"/>
            <a:ext cx="256032" cy="256032"/>
          </a:xfrm>
          <a:prstGeom prst="diamond">
            <a:avLst/>
          </a:prstGeom>
          <a:solidFill>
            <a:srgbClr val="E8913A"/>
          </a:solidFill>
          <a:ln/>
        </p:spPr>
      </p:sp>
      <p:sp>
        <p:nvSpPr>
          <p:cNvPr id="73" name="Text 71"/>
          <p:cNvSpPr/>
          <p:nvPr/>
        </p:nvSpPr>
        <p:spPr>
          <a:xfrm>
            <a:off x="8736034" y="353872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7/10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206240" y="4050792"/>
            <a:ext cx="1909798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279392" y="4050792"/>
            <a:ext cx="181835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しおりの作成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116038" y="4050792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795485" y="4050792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474932" y="4050792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154379" y="4050792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833826" y="4050792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513274" y="4050792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192721" y="4050792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872168" y="4050792"/>
            <a:ext cx="679447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870402" y="4178808"/>
            <a:ext cx="1965190" cy="256032"/>
          </a:xfrm>
          <a:prstGeom prst="roundRect">
            <a:avLst>
              <a:gd name="adj" fmla="val 17857"/>
            </a:avLst>
          </a:prstGeom>
          <a:solidFill>
            <a:srgbClr val="028090"/>
          </a:solidFill>
          <a:ln/>
        </p:spPr>
      </p:sp>
      <p:sp>
        <p:nvSpPr>
          <p:cNvPr id="85" name="Shape 83"/>
          <p:cNvSpPr/>
          <p:nvPr/>
        </p:nvSpPr>
        <p:spPr>
          <a:xfrm>
            <a:off x="10762440" y="4178808"/>
            <a:ext cx="256032" cy="256032"/>
          </a:xfrm>
          <a:prstGeom prst="diamond">
            <a:avLst/>
          </a:prstGeom>
          <a:solidFill>
            <a:srgbClr val="E8913A"/>
          </a:solidFill>
          <a:ln/>
        </p:spPr>
      </p:sp>
      <p:sp>
        <p:nvSpPr>
          <p:cNvPr id="86" name="Text 84"/>
          <p:cNvSpPr/>
          <p:nvPr/>
        </p:nvSpPr>
        <p:spPr>
          <a:xfrm>
            <a:off x="10094928" y="4050792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8/10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4206240" y="4562856"/>
            <a:ext cx="1909798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279392" y="4562856"/>
            <a:ext cx="181835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当日運営・精算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6116038" y="4562856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795485" y="4562856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474932" y="4562856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154379" y="4562856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833826" y="4562856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513274" y="4562856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192721" y="4562856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872168" y="4562856"/>
            <a:ext cx="679447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0908744" y="4690872"/>
            <a:ext cx="606295" cy="256032"/>
          </a:xfrm>
          <a:prstGeom prst="roundRect">
            <a:avLst>
              <a:gd name="adj" fmla="val 17857"/>
            </a:avLst>
          </a:prstGeom>
          <a:solidFill>
            <a:srgbClr val="028090"/>
          </a:solidFill>
          <a:ln/>
        </p:spPr>
      </p:sp>
      <p:sp>
        <p:nvSpPr>
          <p:cNvPr id="98" name="Shape 96"/>
          <p:cNvSpPr/>
          <p:nvPr/>
        </p:nvSpPr>
        <p:spPr>
          <a:xfrm>
            <a:off x="11441887" y="4690872"/>
            <a:ext cx="256032" cy="256032"/>
          </a:xfrm>
          <a:prstGeom prst="diamond">
            <a:avLst/>
          </a:prstGeom>
          <a:solidFill>
            <a:srgbClr val="E8913A"/>
          </a:solidFill>
          <a:ln/>
        </p:spPr>
      </p:sp>
      <p:sp>
        <p:nvSpPr>
          <p:cNvPr id="99" name="Text 97"/>
          <p:cNvSpPr/>
          <p:nvPr/>
        </p:nvSpPr>
        <p:spPr>
          <a:xfrm>
            <a:off x="10774375" y="4562856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8/20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206240" y="5532120"/>
            <a:ext cx="2938150" cy="777240"/>
          </a:xfrm>
          <a:prstGeom prst="roundRect">
            <a:avLst>
              <a:gd name="adj" fmla="val 9412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343400" y="5596128"/>
            <a:ext cx="26638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期限</a:t>
            </a:r>
            <a:endParaRPr lang="en-US" sz="1150" dirty="0"/>
          </a:p>
        </p:txBody>
      </p:sp>
      <p:sp>
        <p:nvSpPr>
          <p:cNvPr id="102" name="Text 100"/>
          <p:cNvSpPr/>
          <p:nvPr/>
        </p:nvSpPr>
        <p:spPr>
          <a:xfrm>
            <a:off x="4343400" y="5916168"/>
            <a:ext cx="266383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夏合宿：8月20日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327270" y="5532120"/>
            <a:ext cx="4224345" cy="777240"/>
          </a:xfrm>
          <a:prstGeom prst="roundRect">
            <a:avLst>
              <a:gd name="adj" fmla="val 9412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464430" y="5596128"/>
            <a:ext cx="395002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E891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遅れそうな作業</a:t>
            </a:r>
            <a:endParaRPr lang="en-US" sz="1150" dirty="0"/>
          </a:p>
        </p:txBody>
      </p:sp>
      <p:sp>
        <p:nvSpPr>
          <p:cNvPr id="105" name="Text 103"/>
          <p:cNvSpPr/>
          <p:nvPr/>
        </p:nvSpPr>
        <p:spPr>
          <a:xfrm>
            <a:off x="7464430" y="5916168"/>
            <a:ext cx="3950025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参加者の確定。締切を1週間早めて余裕をつくる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工程表づくり（ガントチャート）（記入用）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2194560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34640" y="1874520"/>
            <a:ext cx="1089622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1874520"/>
            <a:ext cx="108962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5月前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24262" y="1874520"/>
            <a:ext cx="1089622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24262" y="1874520"/>
            <a:ext cx="108962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5月後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13884" y="1874520"/>
            <a:ext cx="1089622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13884" y="1874520"/>
            <a:ext cx="108962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6月前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03506" y="1874520"/>
            <a:ext cx="1089622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03506" y="1874520"/>
            <a:ext cx="108962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6月後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193128" y="1874520"/>
            <a:ext cx="1089622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93128" y="1874520"/>
            <a:ext cx="108962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7月前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282750" y="1874520"/>
            <a:ext cx="1089622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2750" y="1874520"/>
            <a:ext cx="108962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7月後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372371" y="1874520"/>
            <a:ext cx="1089622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72371" y="1874520"/>
            <a:ext cx="108962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8月前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461993" y="1874520"/>
            <a:ext cx="1089622" cy="41148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61993" y="1874520"/>
            <a:ext cx="108962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8月後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0080" y="2286000"/>
            <a:ext cx="2194560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2286000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作業1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834640" y="2286000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24262" y="2286000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13884" y="2286000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03506" y="2286000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93128" y="2286000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82750" y="2286000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372371" y="2286000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461993" y="2286000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2798064"/>
            <a:ext cx="2194560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2798064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834640" y="2798064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24262" y="2798064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13884" y="2798064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03506" y="2798064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193128" y="2798064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82750" y="2798064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372371" y="2798064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461993" y="2798064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" y="3310128"/>
            <a:ext cx="2194560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" y="3310128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作業3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834640" y="3310128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24262" y="3310128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13884" y="3310128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03506" y="3310128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193128" y="3310128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82750" y="3310128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372371" y="3310128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461993" y="3310128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40080" y="3822192"/>
            <a:ext cx="2194560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3232" y="3822192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作業4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2834640" y="3822192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924262" y="3822192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013884" y="3822192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103506" y="3822192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93128" y="3822192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282750" y="3822192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372371" y="3822192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461993" y="3822192"/>
            <a:ext cx="1089622" cy="512064"/>
          </a:xfrm>
          <a:prstGeom prst="rect">
            <a:avLst/>
          </a:prstGeom>
          <a:solidFill>
            <a:srgbClr val="F0F7F8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40080" y="4334256"/>
            <a:ext cx="2194560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13232" y="4334256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作業5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2834640" y="4334256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924262" y="4334256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013884" y="4334256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103506" y="4334256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193128" y="4334256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282750" y="4334256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372371" y="4334256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461993" y="4334256"/>
            <a:ext cx="108962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834640" y="4892040"/>
            <a:ext cx="87169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◆ は節目の日付。期間をぬりつぶして使います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640080" y="5303520"/>
            <a:ext cx="4364614" cy="1005840"/>
          </a:xfrm>
          <a:prstGeom prst="roundRect">
            <a:avLst>
              <a:gd name="adj" fmla="val 7273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777240" y="5367528"/>
            <a:ext cx="409029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期限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777240" y="5669280"/>
            <a:ext cx="409029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いつまでに完成させるか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5187574" y="5303520"/>
            <a:ext cx="6364041" cy="1005840"/>
          </a:xfrm>
          <a:prstGeom prst="roundRect">
            <a:avLst>
              <a:gd name="adj" fmla="val 7273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dash"/>
          </a:ln>
        </p:spPr>
      </p:sp>
      <p:sp>
        <p:nvSpPr>
          <p:cNvPr id="81" name="Text 79"/>
          <p:cNvSpPr/>
          <p:nvPr/>
        </p:nvSpPr>
        <p:spPr>
          <a:xfrm>
            <a:off x="5324734" y="5367528"/>
            <a:ext cx="6089721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E891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遅れそうな作業</a:t>
            </a:r>
            <a:endParaRPr lang="en-US" sz="1150" dirty="0"/>
          </a:p>
        </p:txBody>
      </p:sp>
      <p:sp>
        <p:nvSpPr>
          <p:cNvPr id="82" name="Text 80"/>
          <p:cNvSpPr/>
          <p:nvPr/>
        </p:nvSpPr>
        <p:spPr>
          <a:xfrm>
            <a:off x="5324734" y="5669280"/>
            <a:ext cx="6089721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先に手を打つこと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新歓・勧誘の作戦シート（STP・4P）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誰に、何を、どう伝えるかを決めてから動く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75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665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狙う相手を決め（STP）、内容・条件・場所・伝え方（4P）をそろえる方法。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5948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692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6006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396240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誰にでも向けた勧誘をやめて、刺さる伝え方にする。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95300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062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053584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45592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体験会の参加者や入部者が増え、準備の無駄が減る。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73453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6C4C8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103120"/>
            <a:ext cx="2743200" cy="2743200"/>
          </a:xfrm>
          <a:prstGeom prst="ellipse">
            <a:avLst/>
          </a:prstGeom>
          <a:solidFill>
            <a:srgbClr val="D9EC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2514600"/>
            <a:ext cx="1920240" cy="1920240"/>
          </a:xfrm>
          <a:prstGeom prst="ellipse">
            <a:avLst/>
          </a:prstGeom>
          <a:solidFill>
            <a:srgbClr val="9ACCD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0" y="2926080"/>
            <a:ext cx="1097280" cy="1097280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0" y="32918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狙う人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0624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全員 → 関心がある人 → 狙う人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06240" y="5212080"/>
            <a:ext cx="3657600" cy="1097280"/>
          </a:xfrm>
          <a:prstGeom prst="roundRect">
            <a:avLst>
              <a:gd name="adj" fmla="val 6667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43400" y="52760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誰に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343400" y="5596128"/>
            <a:ext cx="33832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運動不足が気になる新入生。特に未経験の人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138160" y="2103120"/>
            <a:ext cx="3413455" cy="1292352"/>
          </a:xfrm>
          <a:prstGeom prst="roundRect">
            <a:avLst>
              <a:gd name="adj" fmla="val 5660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2167128"/>
            <a:ext cx="31391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3E8E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約束すること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75320" y="2487168"/>
            <a:ext cx="3139135" cy="85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未経験でも、週1回から楽しめる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38160" y="3505200"/>
            <a:ext cx="3413455" cy="1292352"/>
          </a:xfrm>
          <a:prstGeom prst="roundRect">
            <a:avLst>
              <a:gd name="adj" fmla="val 5660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5320" y="3569208"/>
            <a:ext cx="31391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E891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伝え方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275320" y="3889248"/>
            <a:ext cx="3139135" cy="85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昼休みの体験会、SNS、未経験の先輩の声を載せたビラ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138160" y="4907280"/>
            <a:ext cx="3413455" cy="1292352"/>
          </a:xfrm>
          <a:prstGeom prst="roundRect">
            <a:avLst>
              <a:gd name="adj" fmla="val 5660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75320" y="4971288"/>
            <a:ext cx="31391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条件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275320" y="5291328"/>
            <a:ext cx="3139135" cy="85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年会費2,000円／昼休みに中庭で体験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新歓・勧誘の作戦シート（STP・4P）（記入用）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97280" y="1874520"/>
            <a:ext cx="2743200" cy="2743200"/>
          </a:xfrm>
          <a:prstGeom prst="ellipse">
            <a:avLst/>
          </a:prstGeom>
          <a:solidFill>
            <a:srgbClr val="D9EC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08760" y="2286000"/>
            <a:ext cx="1920240" cy="1920240"/>
          </a:xfrm>
          <a:prstGeom prst="ellipse">
            <a:avLst/>
          </a:prstGeom>
          <a:solidFill>
            <a:srgbClr val="9ACCD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2697480"/>
            <a:ext cx="1097280" cy="1097280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0" y="30632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狙う人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全員 → 関心がある人 → 狙う人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4983480"/>
            <a:ext cx="3657600" cy="1325880"/>
          </a:xfrm>
          <a:prstGeom prst="roundRect">
            <a:avLst>
              <a:gd name="adj" fmla="val 5517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777240" y="50474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誰に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" y="534924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狙う相手を絞る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5888736"/>
            <a:ext cx="338328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572000" y="1874520"/>
            <a:ext cx="6979615" cy="1368552"/>
          </a:xfrm>
          <a:prstGeom prst="roundRect">
            <a:avLst>
              <a:gd name="adj" fmla="val 5345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709160" y="1938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3E8E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約束すること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09160" y="2240280"/>
            <a:ext cx="670529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その人にとっての価値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2779776"/>
            <a:ext cx="670529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709160" y="3090672"/>
            <a:ext cx="670529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572000" y="3352800"/>
            <a:ext cx="6979615" cy="1368552"/>
          </a:xfrm>
          <a:prstGeom prst="roundRect">
            <a:avLst>
              <a:gd name="adj" fmla="val 5345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4709160" y="341680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E891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伝え方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09160" y="3718560"/>
            <a:ext cx="670529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どこでどう知らせるか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09160" y="4258056"/>
            <a:ext cx="670529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709160" y="4568952"/>
            <a:ext cx="670529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572000" y="4831080"/>
            <a:ext cx="6979615" cy="1368552"/>
          </a:xfrm>
          <a:prstGeom prst="roundRect">
            <a:avLst>
              <a:gd name="adj" fmla="val 5345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4709160" y="489508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条件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709160" y="5196840"/>
            <a:ext cx="670529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費用・場所・時間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09160" y="5736336"/>
            <a:ext cx="670529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709160" y="6047232"/>
            <a:ext cx="670529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顧客インタビュー設計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アイデアが本当に必要とされているかを、聞いて確かめる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75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665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アイデアの前提（仮説）を、相手の過去の経験を聞いて確かめるための準備。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5948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692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6006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396240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思い込みで進むことを防ぐ。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95300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062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053584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45592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作る前に、必要とされているかを判断できる。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73453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記入例：学生起業のアイデア例（架空）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306324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Shape 18"/>
          <p:cNvSpPr/>
          <p:nvPr/>
        </p:nvSpPr>
        <p:spPr>
          <a:xfrm>
            <a:off x="4480560" y="3566160"/>
            <a:ext cx="914400" cy="457200"/>
          </a:xfrm>
          <a:prstGeom prst="roundRect">
            <a:avLst>
              <a:gd name="adj" fmla="val 40000"/>
            </a:avLst>
          </a:prstGeom>
          <a:solidFill>
            <a:srgbClr val="028090"/>
          </a:solidFill>
          <a:ln/>
        </p:spPr>
      </p:sp>
      <p:sp>
        <p:nvSpPr>
          <p:cNvPr id="21" name="Shape 19"/>
          <p:cNvSpPr/>
          <p:nvPr/>
        </p:nvSpPr>
        <p:spPr>
          <a:xfrm>
            <a:off x="4206240" y="2103120"/>
            <a:ext cx="7345375" cy="777240"/>
          </a:xfrm>
          <a:prstGeom prst="roundRect">
            <a:avLst>
              <a:gd name="adj" fmla="val 9412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43400" y="2167128"/>
            <a:ext cx="707105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確かめたい仮説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343400" y="2487168"/>
            <a:ext cx="7071055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試験前、1〜2年生は勉強仲間が見つからず困っている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06240" y="3017520"/>
            <a:ext cx="2203613" cy="1874520"/>
          </a:xfrm>
          <a:prstGeom prst="roundRect">
            <a:avLst>
              <a:gd name="adj" fmla="val 3902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43400" y="3081528"/>
            <a:ext cx="192929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聞く相手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343400" y="3401568"/>
            <a:ext cx="1929293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1〜2年生10人。学部が違う人も入れる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92733" y="3017520"/>
            <a:ext cx="4958883" cy="1874520"/>
          </a:xfrm>
          <a:prstGeom prst="roundRect">
            <a:avLst>
              <a:gd name="adj" fmla="val 3902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29893" y="3081528"/>
            <a:ext cx="468456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E891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聞く質問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729893" y="3401568"/>
            <a:ext cx="4684563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前回の試験勉強はどうしましたか？／そのとき困ったことは？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06240" y="5029200"/>
            <a:ext cx="7345375" cy="1280160"/>
          </a:xfrm>
          <a:prstGeom prst="roundRect">
            <a:avLst>
              <a:gd name="adj" fmla="val 5714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06240" y="5029200"/>
            <a:ext cx="7345375" cy="365760"/>
          </a:xfrm>
          <a:prstGeom prst="rect">
            <a:avLst/>
          </a:prstGeom>
          <a:solidFill>
            <a:srgbClr val="3E8E5A"/>
          </a:solidFill>
          <a:ln/>
        </p:spPr>
      </p:sp>
      <p:sp>
        <p:nvSpPr>
          <p:cNvPr id="32" name="Text 30"/>
          <p:cNvSpPr/>
          <p:nvPr/>
        </p:nvSpPr>
        <p:spPr>
          <a:xfrm>
            <a:off x="4315968" y="5029200"/>
            <a:ext cx="7162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判断の基準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343400" y="5486400"/>
            <a:ext cx="7071055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10人中6人が同じ困りごとを挙げたら、試作に進む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顧客インタビュー設計（記入用）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43000" y="283464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337560"/>
            <a:ext cx="914400" cy="457200"/>
          </a:xfrm>
          <a:prstGeom prst="roundRect">
            <a:avLst>
              <a:gd name="adj" fmla="val 40000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187452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1938528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確かめたい仮説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3273461" cy="2103120"/>
          </a:xfrm>
          <a:prstGeom prst="roundRect">
            <a:avLst>
              <a:gd name="adj" fmla="val 3478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77240" y="2852928"/>
            <a:ext cx="2999141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聞く相手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3447288"/>
            <a:ext cx="2999141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77240" y="3758184"/>
            <a:ext cx="2999141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777240" y="4069080"/>
            <a:ext cx="2999141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777240" y="4379976"/>
            <a:ext cx="2999141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77240" y="4690872"/>
            <a:ext cx="2999141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96421" y="2788920"/>
            <a:ext cx="7455195" cy="2103120"/>
          </a:xfrm>
          <a:prstGeom prst="roundRect">
            <a:avLst>
              <a:gd name="adj" fmla="val 3478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233581" y="2852928"/>
            <a:ext cx="71808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E891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聞く質問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233581" y="3154680"/>
            <a:ext cx="718087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過去の事実を聞く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33581" y="3694176"/>
            <a:ext cx="71808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233581" y="4005072"/>
            <a:ext cx="71808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233581" y="4315968"/>
            <a:ext cx="71808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233581" y="4626864"/>
            <a:ext cx="71808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40080" y="5029200"/>
            <a:ext cx="10911535" cy="1280160"/>
          </a:xfrm>
          <a:prstGeom prst="roundRect">
            <a:avLst>
              <a:gd name="adj" fmla="val 5714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solidFill>
            <a:srgbClr val="3E8E5A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502920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判断の基準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77240" y="5468112"/>
            <a:ext cx="1063721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次に進む条件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77240" y="6007608"/>
            <a:ext cx="1063721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リーンキャンバス（かんたん版）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事業の骨組みを、1枚に書き出す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75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665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課題・解決策・価値・お金の流れを1枚に書き、事業の全体像を見る方法。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5948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692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6006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396240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抜けている部分を見つけ、仲間と共有する。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95300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062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053584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45592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アイデアが事業として成り立つかを、早く確かめられる。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73453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E891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記入例：学生起業のアイデア例（架空）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2103120"/>
            <a:ext cx="2056705" cy="3108960"/>
          </a:xfrm>
          <a:prstGeom prst="roundRect">
            <a:avLst>
              <a:gd name="adj" fmla="val 3557"/>
            </a:avLst>
          </a:prstGeom>
          <a:solidFill>
            <a:srgbClr val="F9EFEF"/>
          </a:solidFill>
          <a:ln w="19050">
            <a:solidFill>
              <a:srgbClr val="C05A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400" y="2167128"/>
            <a:ext cx="178238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C05A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課題と顧客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343400" y="2487168"/>
            <a:ext cx="1782385" cy="2670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勉強仲間が見つからない、1〜2年生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45825" y="2103120"/>
            <a:ext cx="2938150" cy="3108960"/>
          </a:xfrm>
          <a:prstGeom prst="roundRect">
            <a:avLst>
              <a:gd name="adj" fmla="val 2490"/>
            </a:avLst>
          </a:prstGeom>
          <a:solidFill>
            <a:srgbClr val="E9E9EF"/>
          </a:solidFill>
          <a:ln w="4445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2985" y="2167128"/>
            <a:ext cx="26638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独自の価値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2985" y="2487168"/>
            <a:ext cx="2663830" cy="2670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学部をこえて、同じ科目の仲間が見つかる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66855" y="2103120"/>
            <a:ext cx="1984760" cy="3108960"/>
          </a:xfrm>
          <a:prstGeom prst="roundRect">
            <a:avLst>
              <a:gd name="adj" fmla="val 3686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04015" y="2167128"/>
            <a:ext cx="1710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解決策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704015" y="2487168"/>
            <a:ext cx="1710440" cy="2670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科目ごとの勉強会を、学内SNSで募集・参加できる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06240" y="5394960"/>
            <a:ext cx="7345375" cy="914400"/>
          </a:xfrm>
          <a:prstGeom prst="roundRect">
            <a:avLst>
              <a:gd name="adj" fmla="val 8000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06240" y="5394960"/>
            <a:ext cx="7345375" cy="365760"/>
          </a:xfrm>
          <a:prstGeom prst="rect">
            <a:avLst/>
          </a:prstGeom>
          <a:solidFill>
            <a:srgbClr val="3E8E5A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5394960"/>
            <a:ext cx="7162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お金の流れ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343400" y="5852160"/>
            <a:ext cx="7071055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学生は無料。大学や学内の企業の協賛で運営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リーンキャンバス（かんたん版）（記入用）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3055230" cy="3108960"/>
          </a:xfrm>
          <a:prstGeom prst="roundRect">
            <a:avLst>
              <a:gd name="adj" fmla="val 2394"/>
            </a:avLst>
          </a:prstGeom>
          <a:solidFill>
            <a:srgbClr val="F9EFEF"/>
          </a:solidFill>
          <a:ln w="19050">
            <a:solidFill>
              <a:srgbClr val="C05A5A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77240" y="1938528"/>
            <a:ext cx="278091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C05A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課題と顧客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278091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誰のどんな困りごとか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77240" y="2779776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77240" y="3090672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777240" y="3401568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777240" y="3712464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77240" y="4023360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777240" y="4334256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777240" y="4645152"/>
            <a:ext cx="2780910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78190" y="1874520"/>
            <a:ext cx="4364614" cy="3108960"/>
          </a:xfrm>
          <a:prstGeom prst="roundRect">
            <a:avLst>
              <a:gd name="adj" fmla="val 2353"/>
            </a:avLst>
          </a:prstGeom>
          <a:solidFill>
            <a:srgbClr val="E9E9EF"/>
          </a:solidFill>
          <a:ln w="44450">
            <a:solidFill>
              <a:srgbClr val="1E2761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015350" y="1938528"/>
            <a:ext cx="409029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独自の価値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015350" y="2240280"/>
            <a:ext cx="409029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他と何が違うか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015350" y="2779776"/>
            <a:ext cx="409029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015350" y="3090672"/>
            <a:ext cx="409029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015350" y="3401568"/>
            <a:ext cx="409029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015350" y="3712464"/>
            <a:ext cx="409029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015350" y="4023360"/>
            <a:ext cx="409029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015350" y="4334256"/>
            <a:ext cx="409029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015350" y="4645152"/>
            <a:ext cx="409029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425684" y="1874520"/>
            <a:ext cx="3125931" cy="3108960"/>
          </a:xfrm>
          <a:prstGeom prst="roundRect">
            <a:avLst>
              <a:gd name="adj" fmla="val 2353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8562844" y="1938528"/>
            <a:ext cx="2851611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解決策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562844" y="2240280"/>
            <a:ext cx="2851611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どう解決するか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562844" y="2779776"/>
            <a:ext cx="2851611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562844" y="3090672"/>
            <a:ext cx="2851611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562844" y="3401568"/>
            <a:ext cx="2851611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562844" y="3712464"/>
            <a:ext cx="2851611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8562844" y="4023360"/>
            <a:ext cx="2851611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562844" y="4334256"/>
            <a:ext cx="2851611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562844" y="4645152"/>
            <a:ext cx="2851611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40080" y="5166360"/>
            <a:ext cx="10911535" cy="1143000"/>
          </a:xfrm>
          <a:prstGeom prst="roundRect">
            <a:avLst>
              <a:gd name="adj" fmla="val 6400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40080" y="5166360"/>
            <a:ext cx="10911535" cy="365760"/>
          </a:xfrm>
          <a:prstGeom prst="rect">
            <a:avLst/>
          </a:prstGeom>
          <a:solidFill>
            <a:srgbClr val="3E8E5A"/>
          </a:solidFill>
          <a:ln/>
        </p:spPr>
      </p:sp>
      <p:sp>
        <p:nvSpPr>
          <p:cNvPr id="40" name="Text 38"/>
          <p:cNvSpPr/>
          <p:nvPr/>
        </p:nvSpPr>
        <p:spPr>
          <a:xfrm>
            <a:off x="749808" y="51663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お金の流れ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77240" y="5605272"/>
            <a:ext cx="1063721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誰がどう負担するか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77240" y="6144768"/>
            <a:ext cx="1063721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2026-10-14T13:47:42Z</dcterms:created>
  <dcterms:modified xsi:type="dcterms:W3CDTF">2026-10-14T13:47:42Z</dcterms:modified>
</cp:coreProperties>
</file>