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1554480"/>
            <a:ext cx="475488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45336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第2弾｜サークル・委員会リーダー向け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リーダーのためのワークシート集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心理的安全性／KPT／リスク管理／予算／事業ドメイン／強みの棚卸し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すべて無料・学生団体のみなさんは自由に使えます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使い方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1つのワークは2枚。まず例を読み、次に白紙に書きます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3774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解説と記入例を読む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意味・狙い・効果と、サークルでの記入例を確認します。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210312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377440"/>
            <a:ext cx="548640" cy="548640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3108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白紙のシートに書く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5661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自分のサークルについて、思いつくまま書き込みます。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210312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377440"/>
            <a:ext cx="548640" cy="548640"/>
          </a:xfrm>
          <a:prstGeom prst="ellipse">
            <a:avLst/>
          </a:prstGeom>
          <a:solidFill>
            <a:srgbClr val="C05A5A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21040" y="3108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メンバーと見せ合う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356616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幹部や仲間と読み合い、直して決定版にします。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5394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※記入例は架空のサークル・架空のアイデアです。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心理的安全性チェック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誰もが安心して意見や失敗を話せる状態かを確認する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7568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6654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246888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意見や失敗を話しても、責められないと感じられる状態かを確かめること。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45948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56920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6006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396240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発言が一部の人に偏る原因を見つける。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95300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506272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053584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得られる効果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545592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問題が早く共有され、新入生が定着しやすくなる。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06240" y="1737360"/>
            <a:ext cx="734537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記入例：ひだまりテニスサークル（架空）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0" y="21031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いまのチームは？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2121408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0" y="26334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発言しにくい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23760" y="2121408"/>
            <a:ext cx="457200" cy="457200"/>
          </a:xfrm>
          <a:prstGeom prst="ellipse">
            <a:avLst/>
          </a:prstGeom>
          <a:solidFill>
            <a:srgbClr val="C05A5A"/>
          </a:solidFill>
          <a:ln w="25400">
            <a:solidFill>
              <a:srgbClr val="C05A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2376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046720" y="2121408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69680" y="2121408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968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692640" y="2121408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9264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235440" y="26334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発言しやすい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58000" y="2350008"/>
            <a:ext cx="36576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2778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042197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551615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06240" y="3108960"/>
            <a:ext cx="2326538" cy="3200400"/>
          </a:xfrm>
          <a:prstGeom prst="roundRect">
            <a:avLst>
              <a:gd name="adj" fmla="val 3144"/>
            </a:avLst>
          </a:prstGeom>
          <a:solidFill>
            <a:srgbClr val="E6F2F4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06240" y="3108960"/>
            <a:ext cx="2326538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8" name="Text 36"/>
          <p:cNvSpPr/>
          <p:nvPr/>
        </p:nvSpPr>
        <p:spPr>
          <a:xfrm>
            <a:off x="4315968" y="3108960"/>
            <a:ext cx="2143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今の状態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343400" y="3566160"/>
            <a:ext cx="2052218" cy="2688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会議で話すのはいつも3年生だけ。1年生はほとんど黙っている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715658" y="3108960"/>
            <a:ext cx="2326538" cy="3200400"/>
          </a:xfrm>
          <a:prstGeom prst="roundRect">
            <a:avLst>
              <a:gd name="adj" fmla="val 3144"/>
            </a:avLst>
          </a:prstGeom>
          <a:solidFill>
            <a:srgbClr val="FDF4EB"/>
          </a:solidFill>
          <a:ln w="19050">
            <a:solidFill>
              <a:srgbClr val="E8913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15658" y="3108960"/>
            <a:ext cx="2326538" cy="3657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2" name="Text 40"/>
          <p:cNvSpPr/>
          <p:nvPr/>
        </p:nvSpPr>
        <p:spPr>
          <a:xfrm>
            <a:off x="6825386" y="3108960"/>
            <a:ext cx="2143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原因の仮説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52818" y="3566160"/>
            <a:ext cx="2052218" cy="2688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否定されるのが怖い／意見を聞かれる場面がない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225077" y="3108960"/>
            <a:ext cx="2326538" cy="3200400"/>
          </a:xfrm>
          <a:prstGeom prst="roundRect">
            <a:avLst>
              <a:gd name="adj" fmla="val 3144"/>
            </a:avLst>
          </a:prstGeom>
          <a:solidFill>
            <a:srgbClr val="ECF4EF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225077" y="3108960"/>
            <a:ext cx="2326538" cy="365760"/>
          </a:xfrm>
          <a:prstGeom prst="rect">
            <a:avLst/>
          </a:prstGeom>
          <a:solidFill>
            <a:srgbClr val="3E8E5A"/>
          </a:solidFill>
          <a:ln/>
        </p:spPr>
      </p:sp>
      <p:sp>
        <p:nvSpPr>
          <p:cNvPr id="46" name="Text 44"/>
          <p:cNvSpPr/>
          <p:nvPr/>
        </p:nvSpPr>
        <p:spPr>
          <a:xfrm>
            <a:off x="9334805" y="3108960"/>
            <a:ext cx="2143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小さな実験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362237" y="3566160"/>
            <a:ext cx="2052218" cy="2688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会議の最初に全員が1分ずつ話す。出た意見は必ず「ありがとう」で受ける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心理的安全性チェック（記入用）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あなたのサークルについて書きましょう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9149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10591495" y="44805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いまのチームは？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34640" y="1892808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77440" y="24048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発言しにくい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0" y="1892808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80560" y="1892808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03520" y="1892808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892808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0" y="24048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発言しやすい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2121408"/>
            <a:ext cx="36576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55338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853477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551615" y="4251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2880360"/>
            <a:ext cx="3515258" cy="3429000"/>
          </a:xfrm>
          <a:prstGeom prst="roundRect">
            <a:avLst>
              <a:gd name="adj" fmla="val 2133"/>
            </a:avLst>
          </a:prstGeom>
          <a:solidFill>
            <a:srgbClr val="E6F2F4"/>
          </a:solidFill>
          <a:ln w="19050">
            <a:solidFill>
              <a:srgbClr val="028090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40080" y="2880360"/>
            <a:ext cx="3515258" cy="3657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" y="2880360"/>
            <a:ext cx="3332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今の状態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" y="3319272"/>
            <a:ext cx="324093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会議や連絡で、誰が話せているか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77240" y="3858768"/>
            <a:ext cx="324093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777240" y="4169664"/>
            <a:ext cx="324093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777240" y="4480560"/>
            <a:ext cx="324093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777240" y="4791456"/>
            <a:ext cx="324093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777240" y="5102352"/>
            <a:ext cx="324093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777240" y="5413248"/>
            <a:ext cx="324093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777240" y="5724144"/>
            <a:ext cx="324093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777240" y="6035040"/>
            <a:ext cx="324093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338218" y="2880360"/>
            <a:ext cx="3515258" cy="3429000"/>
          </a:xfrm>
          <a:prstGeom prst="roundRect">
            <a:avLst>
              <a:gd name="adj" fmla="val 2133"/>
            </a:avLst>
          </a:prstGeom>
          <a:solidFill>
            <a:srgbClr val="FDF4EB"/>
          </a:solidFill>
          <a:ln w="19050">
            <a:solidFill>
              <a:srgbClr val="E8913A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338218" y="2880360"/>
            <a:ext cx="3515258" cy="3657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9" name="Text 37"/>
          <p:cNvSpPr/>
          <p:nvPr/>
        </p:nvSpPr>
        <p:spPr>
          <a:xfrm>
            <a:off x="4447946" y="2880360"/>
            <a:ext cx="3332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原因の仮説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475378" y="3319272"/>
            <a:ext cx="324093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なぜ話しにくいのか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475378" y="3858768"/>
            <a:ext cx="324093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4475378" y="4169664"/>
            <a:ext cx="324093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4475378" y="4480560"/>
            <a:ext cx="324093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4475378" y="4791456"/>
            <a:ext cx="324093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4475378" y="5102352"/>
            <a:ext cx="324093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4475378" y="5413248"/>
            <a:ext cx="324093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4475378" y="5724144"/>
            <a:ext cx="324093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4475378" y="6035040"/>
            <a:ext cx="324093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8036357" y="2880360"/>
            <a:ext cx="3515258" cy="3429000"/>
          </a:xfrm>
          <a:prstGeom prst="roundRect">
            <a:avLst>
              <a:gd name="adj" fmla="val 2133"/>
            </a:avLst>
          </a:prstGeom>
          <a:solidFill>
            <a:srgbClr val="ECF4EF"/>
          </a:solidFill>
          <a:ln w="19050">
            <a:solidFill>
              <a:srgbClr val="3E8E5A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8036357" y="2880360"/>
            <a:ext cx="3515258" cy="365760"/>
          </a:xfrm>
          <a:prstGeom prst="rect">
            <a:avLst/>
          </a:prstGeom>
          <a:solidFill>
            <a:srgbClr val="3E8E5A"/>
          </a:solidFill>
          <a:ln/>
        </p:spPr>
      </p:sp>
      <p:sp>
        <p:nvSpPr>
          <p:cNvPr id="51" name="Text 49"/>
          <p:cNvSpPr/>
          <p:nvPr/>
        </p:nvSpPr>
        <p:spPr>
          <a:xfrm>
            <a:off x="8146085" y="2880360"/>
            <a:ext cx="3332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小さな実験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173517" y="3319272"/>
            <a:ext cx="324093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1か月で試すこと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173517" y="3858768"/>
            <a:ext cx="324093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8173517" y="4169664"/>
            <a:ext cx="324093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8173517" y="4480560"/>
            <a:ext cx="324093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8173517" y="4791456"/>
            <a:ext cx="324093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8173517" y="5102352"/>
            <a:ext cx="324093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8173517" y="5413248"/>
            <a:ext cx="324093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8173517" y="5724144"/>
            <a:ext cx="324093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8173517" y="6035040"/>
            <a:ext cx="324093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61" name="Text 5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KPT振り返りシート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活動やイベントのあとに、続けること・直すこと・試すことを決める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7568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6654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246888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Keep（続ける）・Problem（問題）・Try（次に試す）の3つで振り返る方法。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45948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56920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6006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396240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やりっぱなしを防ぎ、次の行動を具体的に決める。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95300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506272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053584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得られる効果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545592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活動の質が少しずつ上がり、同じ失敗を繰り返さなくなる。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06240" y="1737360"/>
            <a:ext cx="734537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3E8E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記入例：ひだまりテニスサークル（架空）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06240" y="2103120"/>
            <a:ext cx="2326538" cy="3154680"/>
          </a:xfrm>
          <a:prstGeom prst="roundRect">
            <a:avLst>
              <a:gd name="adj" fmla="val 3144"/>
            </a:avLst>
          </a:prstGeom>
          <a:solidFill>
            <a:srgbClr val="ECF4EF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06240" y="2103120"/>
            <a:ext cx="2326538" cy="365760"/>
          </a:xfrm>
          <a:prstGeom prst="rect">
            <a:avLst/>
          </a:prstGeom>
          <a:solidFill>
            <a:srgbClr val="3E8E5A"/>
          </a:solidFill>
          <a:ln/>
        </p:spPr>
      </p:sp>
      <p:sp>
        <p:nvSpPr>
          <p:cNvPr id="21" name="Text 19"/>
          <p:cNvSpPr/>
          <p:nvPr/>
        </p:nvSpPr>
        <p:spPr>
          <a:xfrm>
            <a:off x="4315968" y="2103120"/>
            <a:ext cx="2143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Keep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389120" y="2560320"/>
            <a:ext cx="1960778" cy="868680"/>
          </a:xfrm>
          <a:prstGeom prst="rect">
            <a:avLst/>
          </a:prstGeom>
          <a:solidFill>
            <a:srgbClr val="FFF3A8"/>
          </a:solidFill>
          <a:ln w="9525">
            <a:solidFill>
              <a:srgbClr val="E6D3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62272" y="2596896"/>
            <a:ext cx="1814474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体験会で先輩が初心者に1対1でつく担当制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0" y="3538728"/>
            <a:ext cx="1960778" cy="868680"/>
          </a:xfrm>
          <a:prstGeom prst="rect">
            <a:avLst/>
          </a:prstGeom>
          <a:solidFill>
            <a:srgbClr val="FFF3A8"/>
          </a:solidFill>
          <a:ln w="9525">
            <a:solidFill>
              <a:srgbClr val="E6D3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15658" y="2103120"/>
            <a:ext cx="2326538" cy="3154680"/>
          </a:xfrm>
          <a:prstGeom prst="roundRect">
            <a:avLst>
              <a:gd name="adj" fmla="val 3144"/>
            </a:avLst>
          </a:prstGeom>
          <a:solidFill>
            <a:srgbClr val="F9EFEF"/>
          </a:solidFill>
          <a:ln w="19050">
            <a:solidFill>
              <a:srgbClr val="C05A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15658" y="2103120"/>
            <a:ext cx="2326538" cy="365760"/>
          </a:xfrm>
          <a:prstGeom prst="rect">
            <a:avLst/>
          </a:prstGeom>
          <a:solidFill>
            <a:srgbClr val="C05A5A"/>
          </a:solidFill>
          <a:ln/>
        </p:spPr>
      </p:sp>
      <p:sp>
        <p:nvSpPr>
          <p:cNvPr id="27" name="Text 25"/>
          <p:cNvSpPr/>
          <p:nvPr/>
        </p:nvSpPr>
        <p:spPr>
          <a:xfrm>
            <a:off x="6825386" y="2103120"/>
            <a:ext cx="2143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Problem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98538" y="2560320"/>
            <a:ext cx="1960778" cy="868680"/>
          </a:xfrm>
          <a:prstGeom prst="rect">
            <a:avLst/>
          </a:prstGeom>
          <a:solidFill>
            <a:srgbClr val="FFF3A8"/>
          </a:solidFill>
          <a:ln w="9525">
            <a:solidFill>
              <a:srgbClr val="E6D3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71690" y="2596896"/>
            <a:ext cx="1814474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当日の集合連絡が遅れ、開始が20分ずれた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98538" y="3538728"/>
            <a:ext cx="1960778" cy="868680"/>
          </a:xfrm>
          <a:prstGeom prst="rect">
            <a:avLst/>
          </a:prstGeom>
          <a:solidFill>
            <a:srgbClr val="FFF3A8"/>
          </a:solidFill>
          <a:ln w="9525">
            <a:solidFill>
              <a:srgbClr val="E6D36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25077" y="2103120"/>
            <a:ext cx="2326538" cy="3154680"/>
          </a:xfrm>
          <a:prstGeom prst="roundRect">
            <a:avLst>
              <a:gd name="adj" fmla="val 3144"/>
            </a:avLst>
          </a:prstGeom>
          <a:solidFill>
            <a:srgbClr val="EAF1FA"/>
          </a:solidFill>
          <a:ln w="19050">
            <a:solidFill>
              <a:srgbClr val="2F6F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25077" y="2103120"/>
            <a:ext cx="2326538" cy="365760"/>
          </a:xfrm>
          <a:prstGeom prst="rect">
            <a:avLst/>
          </a:prstGeom>
          <a:solidFill>
            <a:srgbClr val="2F6FD0"/>
          </a:solidFill>
          <a:ln/>
        </p:spPr>
      </p:sp>
      <p:sp>
        <p:nvSpPr>
          <p:cNvPr id="33" name="Text 31"/>
          <p:cNvSpPr/>
          <p:nvPr/>
        </p:nvSpPr>
        <p:spPr>
          <a:xfrm>
            <a:off x="9334805" y="2103120"/>
            <a:ext cx="214365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Try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407957" y="2560320"/>
            <a:ext cx="1960778" cy="868680"/>
          </a:xfrm>
          <a:prstGeom prst="rect">
            <a:avLst/>
          </a:prstGeom>
          <a:solidFill>
            <a:srgbClr val="FFF3A8"/>
          </a:solidFill>
          <a:ln w="9525">
            <a:solidFill>
              <a:srgbClr val="E6D3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81109" y="2596896"/>
            <a:ext cx="1814474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前日夜と当日朝の2回、LINEで連絡する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407957" y="3538728"/>
            <a:ext cx="1960778" cy="868680"/>
          </a:xfrm>
          <a:prstGeom prst="rect">
            <a:avLst/>
          </a:prstGeom>
          <a:solidFill>
            <a:srgbClr val="FFF3A8"/>
          </a:solidFill>
          <a:ln w="9525">
            <a:solidFill>
              <a:srgbClr val="E6D36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06240" y="5394960"/>
            <a:ext cx="7345375" cy="914400"/>
          </a:xfrm>
          <a:prstGeom prst="roundRect">
            <a:avLst>
              <a:gd name="adj" fmla="val 8000"/>
            </a:avLst>
          </a:prstGeom>
          <a:solidFill>
            <a:srgbClr val="E9E9E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06240" y="5394960"/>
            <a:ext cx="7345375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9" name="Text 37"/>
          <p:cNvSpPr/>
          <p:nvPr/>
        </p:nvSpPr>
        <p:spPr>
          <a:xfrm>
            <a:off x="4315968" y="5394960"/>
            <a:ext cx="7162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担当と期限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343400" y="5852160"/>
            <a:ext cx="7071055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Aさん・次の定例会まで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KPT振り返りシート（記入用）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あなたのサークルについて書きましょう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9149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10591495" y="44805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515258" cy="3383280"/>
          </a:xfrm>
          <a:prstGeom prst="roundRect">
            <a:avLst>
              <a:gd name="adj" fmla="val 2162"/>
            </a:avLst>
          </a:prstGeom>
          <a:solidFill>
            <a:srgbClr val="ECF4EF"/>
          </a:solidFill>
          <a:ln w="19050">
            <a:solidFill>
              <a:srgbClr val="3E8E5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40080" y="1874520"/>
            <a:ext cx="3515258" cy="365760"/>
          </a:xfrm>
          <a:prstGeom prst="rect">
            <a:avLst/>
          </a:prstGeom>
          <a:solidFill>
            <a:srgbClr val="3E8E5A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874520"/>
            <a:ext cx="3332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Keep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313432"/>
            <a:ext cx="324093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うまくいって続けたいこと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22960" y="2578608"/>
            <a:ext cx="3149498" cy="868680"/>
          </a:xfrm>
          <a:prstGeom prst="rect">
            <a:avLst/>
          </a:prstGeom>
          <a:solidFill>
            <a:srgbClr val="FFF3A8"/>
          </a:solidFill>
          <a:ln w="9525">
            <a:solidFill>
              <a:srgbClr val="E6D3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3557016"/>
            <a:ext cx="3149498" cy="868680"/>
          </a:xfrm>
          <a:prstGeom prst="rect">
            <a:avLst/>
          </a:prstGeom>
          <a:solidFill>
            <a:srgbClr val="FFF3A8"/>
          </a:solidFill>
          <a:ln w="9525">
            <a:solidFill>
              <a:srgbClr val="E6D3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38218" y="1874520"/>
            <a:ext cx="3515258" cy="3383280"/>
          </a:xfrm>
          <a:prstGeom prst="roundRect">
            <a:avLst>
              <a:gd name="adj" fmla="val 2162"/>
            </a:avLst>
          </a:prstGeom>
          <a:solidFill>
            <a:srgbClr val="F9EFEF"/>
          </a:solidFill>
          <a:ln w="19050">
            <a:solidFill>
              <a:srgbClr val="C05A5A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338218" y="1874520"/>
            <a:ext cx="3515258" cy="365760"/>
          </a:xfrm>
          <a:prstGeom prst="rect">
            <a:avLst/>
          </a:prstGeom>
          <a:solidFill>
            <a:srgbClr val="C05A5A"/>
          </a:solidFill>
          <a:ln/>
        </p:spPr>
      </p:sp>
      <p:sp>
        <p:nvSpPr>
          <p:cNvPr id="16" name="Text 14"/>
          <p:cNvSpPr/>
          <p:nvPr/>
        </p:nvSpPr>
        <p:spPr>
          <a:xfrm>
            <a:off x="4447946" y="1874520"/>
            <a:ext cx="3332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Problem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75378" y="2313432"/>
            <a:ext cx="324093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うまくいかなかったこと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21098" y="2578608"/>
            <a:ext cx="3149498" cy="868680"/>
          </a:xfrm>
          <a:prstGeom prst="rect">
            <a:avLst/>
          </a:prstGeom>
          <a:solidFill>
            <a:srgbClr val="FFF3A8"/>
          </a:solidFill>
          <a:ln w="9525">
            <a:solidFill>
              <a:srgbClr val="E6D3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21098" y="3557016"/>
            <a:ext cx="3149498" cy="868680"/>
          </a:xfrm>
          <a:prstGeom prst="rect">
            <a:avLst/>
          </a:prstGeom>
          <a:solidFill>
            <a:srgbClr val="FFF3A8"/>
          </a:solidFill>
          <a:ln w="9525">
            <a:solidFill>
              <a:srgbClr val="E6D36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36357" y="1874520"/>
            <a:ext cx="3515258" cy="3383280"/>
          </a:xfrm>
          <a:prstGeom prst="roundRect">
            <a:avLst>
              <a:gd name="adj" fmla="val 2162"/>
            </a:avLst>
          </a:prstGeom>
          <a:solidFill>
            <a:srgbClr val="EAF1FA"/>
          </a:solidFill>
          <a:ln w="19050">
            <a:solidFill>
              <a:srgbClr val="2F6FD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8036357" y="1874520"/>
            <a:ext cx="3515258" cy="365760"/>
          </a:xfrm>
          <a:prstGeom prst="rect">
            <a:avLst/>
          </a:prstGeom>
          <a:solidFill>
            <a:srgbClr val="2F6FD0"/>
          </a:solidFill>
          <a:ln/>
        </p:spPr>
      </p:sp>
      <p:sp>
        <p:nvSpPr>
          <p:cNvPr id="22" name="Text 20"/>
          <p:cNvSpPr/>
          <p:nvPr/>
        </p:nvSpPr>
        <p:spPr>
          <a:xfrm>
            <a:off x="8146085" y="1874520"/>
            <a:ext cx="333237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Try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73517" y="2313432"/>
            <a:ext cx="324093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次に試すこと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219237" y="2578608"/>
            <a:ext cx="3149498" cy="868680"/>
          </a:xfrm>
          <a:prstGeom prst="rect">
            <a:avLst/>
          </a:prstGeom>
          <a:solidFill>
            <a:srgbClr val="FFF3A8"/>
          </a:solidFill>
          <a:ln w="9525">
            <a:solidFill>
              <a:srgbClr val="E6D3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19237" y="3557016"/>
            <a:ext cx="3149498" cy="868680"/>
          </a:xfrm>
          <a:prstGeom prst="rect">
            <a:avLst/>
          </a:prstGeom>
          <a:solidFill>
            <a:srgbClr val="FFF3A8"/>
          </a:solidFill>
          <a:ln w="9525">
            <a:solidFill>
              <a:srgbClr val="E6D3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539496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E9E9EF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40080" y="5394960"/>
            <a:ext cx="10911535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749808" y="539496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担当と期限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77240" y="6126480"/>
            <a:ext cx="10637215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C05A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リスク管理表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起きそうな問題を先に考えて、備えと対応を決める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7568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6654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246888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イベントや活動で起きそうな問題を書き出し、備えと対応を決める表。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45948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56920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6006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396240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「想定外」を減らし、落ち着いて動ける状態にする。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95300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506272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053584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得られる効果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545592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事故やトラブルの被害が小さくなり、メンバーも安心して参加できる。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06240" y="1737360"/>
            <a:ext cx="734537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C05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記入例：ひだまりテニスサークル（架空）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286000"/>
            <a:ext cx="868680" cy="868680"/>
          </a:xfrm>
          <a:prstGeom prst="rect">
            <a:avLst/>
          </a:prstGeom>
          <a:solidFill>
            <a:srgbClr val="F7E08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77840" y="2286000"/>
            <a:ext cx="868680" cy="868680"/>
          </a:xfrm>
          <a:prstGeom prst="rect">
            <a:avLst/>
          </a:prstGeom>
          <a:solidFill>
            <a:srgbClr val="F5B9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2286000"/>
            <a:ext cx="868680" cy="868680"/>
          </a:xfrm>
          <a:prstGeom prst="rect">
            <a:avLst/>
          </a:prstGeom>
          <a:solidFill>
            <a:srgbClr val="E77C6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3154680"/>
            <a:ext cx="868680" cy="868680"/>
          </a:xfrm>
          <a:prstGeom prst="rect">
            <a:avLst/>
          </a:prstGeom>
          <a:solidFill>
            <a:srgbClr val="C8E3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77840" y="3154680"/>
            <a:ext cx="868680" cy="868680"/>
          </a:xfrm>
          <a:prstGeom prst="rect">
            <a:avLst/>
          </a:prstGeom>
          <a:solidFill>
            <a:srgbClr val="F7E08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46520" y="3154680"/>
            <a:ext cx="868680" cy="868680"/>
          </a:xfrm>
          <a:prstGeom prst="rect">
            <a:avLst/>
          </a:prstGeom>
          <a:solidFill>
            <a:srgbClr val="F5B9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4023360"/>
            <a:ext cx="868680" cy="868680"/>
          </a:xfrm>
          <a:prstGeom prst="rect">
            <a:avLst/>
          </a:prstGeom>
          <a:solidFill>
            <a:srgbClr val="9BD3A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77840" y="4023360"/>
            <a:ext cx="868680" cy="868680"/>
          </a:xfrm>
          <a:prstGeom prst="rect">
            <a:avLst/>
          </a:prstGeom>
          <a:solidFill>
            <a:srgbClr val="C8E3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46520" y="4023360"/>
            <a:ext cx="868680" cy="868680"/>
          </a:xfrm>
          <a:prstGeom prst="rect">
            <a:avLst/>
          </a:prstGeom>
          <a:solidFill>
            <a:srgbClr val="F7E08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 rot="16200000">
            <a:off x="3154680" y="3474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起きやすさ（上ほど高い）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09160" y="49377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影響の大きさ（右ほど大きい）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75120" y="338328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589520" y="2103120"/>
            <a:ext cx="3962095" cy="941832"/>
          </a:xfrm>
          <a:prstGeom prst="roundRect">
            <a:avLst>
              <a:gd name="adj" fmla="val 7767"/>
            </a:avLst>
          </a:prstGeom>
          <a:solidFill>
            <a:srgbClr val="E9E9E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26680" y="2167128"/>
            <a:ext cx="368777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起きそうなこと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726680" y="2487168"/>
            <a:ext cx="3687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合宿中の熱中症やケガ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589520" y="3154680"/>
            <a:ext cx="3962095" cy="941832"/>
          </a:xfrm>
          <a:prstGeom prst="roundRect">
            <a:avLst>
              <a:gd name="adj" fmla="val 7767"/>
            </a:avLst>
          </a:prstGeom>
          <a:solidFill>
            <a:srgbClr val="FDF4EB"/>
          </a:solidFill>
          <a:ln w="19050">
            <a:solidFill>
              <a:srgbClr val="E891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726680" y="3218688"/>
            <a:ext cx="368777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影響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7726680" y="3538728"/>
            <a:ext cx="3687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参加者の健康被害。活動の停止や、サークルの信頼低下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589520" y="4206240"/>
            <a:ext cx="3962095" cy="941832"/>
          </a:xfrm>
          <a:prstGeom prst="roundRect">
            <a:avLst>
              <a:gd name="adj" fmla="val 7767"/>
            </a:avLst>
          </a:prstGeom>
          <a:solidFill>
            <a:srgbClr val="E6F2F4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26680" y="4270248"/>
            <a:ext cx="368777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事前の備え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726680" y="4590288"/>
            <a:ext cx="3687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保険に加入／救急セットを用意／休憩と水分補給を日程に入れる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589520" y="5257800"/>
            <a:ext cx="3962095" cy="941832"/>
          </a:xfrm>
          <a:prstGeom prst="roundRect">
            <a:avLst>
              <a:gd name="adj" fmla="val 7767"/>
            </a:avLst>
          </a:prstGeom>
          <a:solidFill>
            <a:srgbClr val="F9EFEF"/>
          </a:solidFill>
          <a:ln w="19050">
            <a:solidFill>
              <a:srgbClr val="C05A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26680" y="5321808"/>
            <a:ext cx="368777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C05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起きたときの対応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7726680" y="5641848"/>
            <a:ext cx="3687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責任者が救急対応し、学生課へ連絡。保護者連絡の担当も決めておく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C05A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リスク管理表（記入用）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あなたのサークルについて書きましょう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9149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10591495" y="44805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43000" y="2057400"/>
            <a:ext cx="868680" cy="868680"/>
          </a:xfrm>
          <a:prstGeom prst="rect">
            <a:avLst/>
          </a:prstGeom>
          <a:solidFill>
            <a:srgbClr val="F7E08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2057400"/>
            <a:ext cx="868680" cy="868680"/>
          </a:xfrm>
          <a:prstGeom prst="rect">
            <a:avLst/>
          </a:prstGeom>
          <a:solidFill>
            <a:srgbClr val="F5B9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880360" y="2057400"/>
            <a:ext cx="868680" cy="868680"/>
          </a:xfrm>
          <a:prstGeom prst="rect">
            <a:avLst/>
          </a:prstGeom>
          <a:solidFill>
            <a:srgbClr val="E77C6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43000" y="2926080"/>
            <a:ext cx="868680" cy="868680"/>
          </a:xfrm>
          <a:prstGeom prst="rect">
            <a:avLst/>
          </a:prstGeom>
          <a:solidFill>
            <a:srgbClr val="C8E3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2926080"/>
            <a:ext cx="868680" cy="868680"/>
          </a:xfrm>
          <a:prstGeom prst="rect">
            <a:avLst/>
          </a:prstGeom>
          <a:solidFill>
            <a:srgbClr val="F7E08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80360" y="2926080"/>
            <a:ext cx="868680" cy="868680"/>
          </a:xfrm>
          <a:prstGeom prst="rect">
            <a:avLst/>
          </a:prstGeom>
          <a:solidFill>
            <a:srgbClr val="F5B97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3794760"/>
            <a:ext cx="868680" cy="868680"/>
          </a:xfrm>
          <a:prstGeom prst="rect">
            <a:avLst/>
          </a:prstGeom>
          <a:solidFill>
            <a:srgbClr val="9BD3A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3794760"/>
            <a:ext cx="868680" cy="868680"/>
          </a:xfrm>
          <a:prstGeom prst="rect">
            <a:avLst/>
          </a:prstGeom>
          <a:solidFill>
            <a:srgbClr val="C8E3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80360" y="3794760"/>
            <a:ext cx="868680" cy="868680"/>
          </a:xfrm>
          <a:prstGeom prst="rect">
            <a:avLst/>
          </a:prstGeom>
          <a:solidFill>
            <a:srgbClr val="F7E08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 rot="16200000">
            <a:off x="-411480" y="3246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起きやすさ（上ほど高い）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43000" y="47091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影響の大きさ（右ほど大きい）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143000" y="50292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起きそうなことを●で記入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023360" y="1874520"/>
            <a:ext cx="7528255" cy="998982"/>
          </a:xfrm>
          <a:prstGeom prst="roundRect">
            <a:avLst>
              <a:gd name="adj" fmla="val 7323"/>
            </a:avLst>
          </a:prstGeom>
          <a:solidFill>
            <a:srgbClr val="E9E9EF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160520" y="1938528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起きそうなこと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60520" y="2240280"/>
            <a:ext cx="7253935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問題を1つ選ぶ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023360" y="2983230"/>
            <a:ext cx="7528255" cy="998982"/>
          </a:xfrm>
          <a:prstGeom prst="roundRect">
            <a:avLst>
              <a:gd name="adj" fmla="val 7323"/>
            </a:avLst>
          </a:prstGeom>
          <a:solidFill>
            <a:srgbClr val="FDF4EB"/>
          </a:solidFill>
          <a:ln w="19050">
            <a:solidFill>
              <a:srgbClr val="E8913A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160520" y="3047238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影響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160520" y="3348990"/>
            <a:ext cx="7253935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起きたらどうなるか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023360" y="4091940"/>
            <a:ext cx="7528255" cy="998982"/>
          </a:xfrm>
          <a:prstGeom prst="roundRect">
            <a:avLst>
              <a:gd name="adj" fmla="val 7323"/>
            </a:avLst>
          </a:prstGeom>
          <a:solidFill>
            <a:srgbClr val="E6F2F4"/>
          </a:solidFill>
          <a:ln w="19050">
            <a:solidFill>
              <a:srgbClr val="02809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160520" y="4155948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事前の備え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160520" y="4457700"/>
            <a:ext cx="7253935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起きる前にできること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023360" y="5200650"/>
            <a:ext cx="7528255" cy="998982"/>
          </a:xfrm>
          <a:prstGeom prst="roundRect">
            <a:avLst>
              <a:gd name="adj" fmla="val 7323"/>
            </a:avLst>
          </a:prstGeom>
          <a:solidFill>
            <a:srgbClr val="F9EFEF"/>
          </a:solidFill>
          <a:ln w="19050">
            <a:solidFill>
              <a:srgbClr val="C05A5A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4160520" y="5264658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C05A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起きたときの対応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160520" y="5566410"/>
            <a:ext cx="7253935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誰が何をするか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6C4C8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予算・収支計画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お金の入りと出を先に計算して、赤字を防ぐ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7568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6654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246888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イベントや活動に必要なお金と、集められるお金を事前に書き出す計画。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45948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56920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6006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396240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赤字や、特定の人の持ち出しを防ぐ。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95300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506272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053584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得られる効果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545592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無理のない会費を決められ、会計の引き継ぎもしやすくなる。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06240" y="1737360"/>
            <a:ext cx="734537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6C4C8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記入例：ひだまりテニスサークル（架空）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22896" y="32004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622896" y="32004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206240" y="2103120"/>
            <a:ext cx="3352648" cy="2926080"/>
          </a:xfrm>
          <a:prstGeom prst="roundRect">
            <a:avLst>
              <a:gd name="adj" fmla="val 2500"/>
            </a:avLst>
          </a:prstGeom>
          <a:solidFill>
            <a:srgbClr val="ECF4EF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0" y="2103120"/>
            <a:ext cx="3352648" cy="365760"/>
          </a:xfrm>
          <a:prstGeom prst="rect">
            <a:avLst/>
          </a:prstGeom>
          <a:solidFill>
            <a:srgbClr val="3E8E5A"/>
          </a:solidFill>
          <a:ln/>
        </p:spPr>
      </p:sp>
      <p:sp>
        <p:nvSpPr>
          <p:cNvPr id="23" name="Text 21"/>
          <p:cNvSpPr/>
          <p:nvPr/>
        </p:nvSpPr>
        <p:spPr>
          <a:xfrm>
            <a:off x="4315968" y="2103120"/>
            <a:ext cx="3169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収入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43400" y="2560320"/>
            <a:ext cx="3078328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会費 30人×8,000円＝24万円／学生課の助成 3万円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198968" y="2103120"/>
            <a:ext cx="3352648" cy="2926080"/>
          </a:xfrm>
          <a:prstGeom prst="roundRect">
            <a:avLst>
              <a:gd name="adj" fmla="val 2500"/>
            </a:avLst>
          </a:prstGeom>
          <a:solidFill>
            <a:srgbClr val="F9EFEF"/>
          </a:solidFill>
          <a:ln w="19050">
            <a:solidFill>
              <a:srgbClr val="C05A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98968" y="2103120"/>
            <a:ext cx="3352648" cy="365760"/>
          </a:xfrm>
          <a:prstGeom prst="rect">
            <a:avLst/>
          </a:prstGeom>
          <a:solidFill>
            <a:srgbClr val="C05A5A"/>
          </a:solidFill>
          <a:ln/>
        </p:spPr>
      </p:sp>
      <p:sp>
        <p:nvSpPr>
          <p:cNvPr id="27" name="Text 25"/>
          <p:cNvSpPr/>
          <p:nvPr/>
        </p:nvSpPr>
        <p:spPr>
          <a:xfrm>
            <a:off x="8308696" y="2103120"/>
            <a:ext cx="3169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支出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36128" y="2560320"/>
            <a:ext cx="3078328" cy="241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宿15万円／バス6万円／食費3万円／保険1万円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06240" y="5212080"/>
            <a:ext cx="7345375" cy="1097280"/>
          </a:xfrm>
          <a:prstGeom prst="roundRect">
            <a:avLst>
              <a:gd name="adj" fmla="val 6667"/>
            </a:avLst>
          </a:prstGeom>
          <a:solidFill>
            <a:srgbClr val="E9E9E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0" y="5212080"/>
            <a:ext cx="7345375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4315968" y="5212080"/>
            <a:ext cx="7162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収支と対策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343400" y="5669280"/>
            <a:ext cx="7071055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27万円−25万円＝2万円の黒字。予備費として5,000円を確保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6C4C8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予算・収支計画（記入用）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あなたのサークルについて書きましょう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9149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10591495" y="44805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839816" y="29718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839816" y="297180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1874520"/>
            <a:ext cx="5135728" cy="2926080"/>
          </a:xfrm>
          <a:prstGeom prst="roundRect">
            <a:avLst>
              <a:gd name="adj" fmla="val 2500"/>
            </a:avLst>
          </a:prstGeom>
          <a:solidFill>
            <a:srgbClr val="ECF4EF"/>
          </a:solidFill>
          <a:ln w="19050">
            <a:solidFill>
              <a:srgbClr val="3E8E5A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640080" y="1874520"/>
            <a:ext cx="5135728" cy="365760"/>
          </a:xfrm>
          <a:prstGeom prst="rect">
            <a:avLst/>
          </a:prstGeom>
          <a:solidFill>
            <a:srgbClr val="3E8E5A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1874520"/>
            <a:ext cx="495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収入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313432"/>
            <a:ext cx="486140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会費・助成金・協賛など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7240" y="2852928"/>
            <a:ext cx="486140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77240" y="3163824"/>
            <a:ext cx="486140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777240" y="3474720"/>
            <a:ext cx="486140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77240" y="3785616"/>
            <a:ext cx="486140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777240" y="4096512"/>
            <a:ext cx="486140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77240" y="4407408"/>
            <a:ext cx="486140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415888" y="1874520"/>
            <a:ext cx="5135728" cy="2926080"/>
          </a:xfrm>
          <a:prstGeom prst="roundRect">
            <a:avLst>
              <a:gd name="adj" fmla="val 2500"/>
            </a:avLst>
          </a:prstGeom>
          <a:solidFill>
            <a:srgbClr val="F9EFEF"/>
          </a:solidFill>
          <a:ln w="19050">
            <a:solidFill>
              <a:srgbClr val="C05A5A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415888" y="1874520"/>
            <a:ext cx="5135728" cy="365760"/>
          </a:xfrm>
          <a:prstGeom prst="rect">
            <a:avLst/>
          </a:prstGeom>
          <a:solidFill>
            <a:srgbClr val="C05A5A"/>
          </a:solidFill>
          <a:ln/>
        </p:spPr>
      </p:sp>
      <p:sp>
        <p:nvSpPr>
          <p:cNvPr id="22" name="Text 20"/>
          <p:cNvSpPr/>
          <p:nvPr/>
        </p:nvSpPr>
        <p:spPr>
          <a:xfrm>
            <a:off x="6525616" y="1874520"/>
            <a:ext cx="495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支出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53048" y="2313432"/>
            <a:ext cx="486140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宿・移動・食費など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53048" y="2852928"/>
            <a:ext cx="486140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553048" y="3163824"/>
            <a:ext cx="486140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553048" y="3474720"/>
            <a:ext cx="486140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553048" y="3785616"/>
            <a:ext cx="486140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6553048" y="4096512"/>
            <a:ext cx="486140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553048" y="4407408"/>
            <a:ext cx="4861408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40080" y="4983480"/>
            <a:ext cx="10911535" cy="1325880"/>
          </a:xfrm>
          <a:prstGeom prst="roundRect">
            <a:avLst>
              <a:gd name="adj" fmla="val 5517"/>
            </a:avLst>
          </a:prstGeom>
          <a:solidFill>
            <a:srgbClr val="E9E9EF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749808" y="498348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収支と対策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77240" y="5422392"/>
            <a:ext cx="10637215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黒字か赤字か。足りないときは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77240" y="5961888"/>
            <a:ext cx="10637215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事業ドメイン設計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アイデアを「誰に・何を・どのように」の3つで言葉にする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7568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6654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246888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誰に・何を・どのように提供するかで、事業の範囲を決めること。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45948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56920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6006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396240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やることを絞り、資源を集中させる。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95300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506272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053584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得られる効果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545592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仲間への説明がぶれず、新しい案を採るか捨てるかの判断基準になる。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06240" y="1737360"/>
            <a:ext cx="734537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記入例：学生起業のアイデア例（架空）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2194560"/>
            <a:ext cx="2103120" cy="2103120"/>
          </a:xfrm>
          <a:prstGeom prst="ellipse">
            <a:avLst/>
          </a:prstGeom>
          <a:solidFill>
            <a:srgbClr val="028090">
              <a:alpha val="38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0" y="3611880"/>
            <a:ext cx="2103120" cy="2103120"/>
          </a:xfrm>
          <a:prstGeom prst="ellipse">
            <a:avLst/>
          </a:prstGeom>
          <a:solidFill>
            <a:srgbClr val="3E8E5A">
              <a:alpha val="38000"/>
            </a:srgbClr>
          </a:solidFill>
          <a:ln w="25400">
            <a:solidFill>
              <a:srgbClr val="3E8E5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06440" y="3611880"/>
            <a:ext cx="2103120" cy="2103120"/>
          </a:xfrm>
          <a:prstGeom prst="ellipse">
            <a:avLst/>
          </a:prstGeom>
          <a:solidFill>
            <a:srgbClr val="E8913A">
              <a:alpha val="38000"/>
            </a:srgbClr>
          </a:solidFill>
          <a:ln w="25400">
            <a:solidFill>
              <a:srgbClr val="E891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25146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誰に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6280" y="48463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E8E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48463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どのように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40680" y="39319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</a:t>
            </a:r>
            <a:endParaRPr lang="en-US" sz="11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ドメイン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38160" y="2103120"/>
            <a:ext cx="3413455" cy="1292352"/>
          </a:xfrm>
          <a:prstGeom prst="roundRect">
            <a:avLst>
              <a:gd name="adj" fmla="val 5660"/>
            </a:avLst>
          </a:prstGeom>
          <a:solidFill>
            <a:srgbClr val="E6F2F4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5320" y="2167128"/>
            <a:ext cx="31391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誰に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75320" y="2487168"/>
            <a:ext cx="3139135" cy="85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試験前に勉強仲間が見つからない、大学1〜2年生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3505200"/>
            <a:ext cx="3413455" cy="1292352"/>
          </a:xfrm>
          <a:prstGeom prst="roundRect">
            <a:avLst>
              <a:gd name="adj" fmla="val 5660"/>
            </a:avLst>
          </a:prstGeom>
          <a:solidFill>
            <a:srgbClr val="ECF4EF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5320" y="3569208"/>
            <a:ext cx="31391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E8E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275320" y="3889248"/>
            <a:ext cx="3139135" cy="85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同じ科目を学ぶ学生同士をつなぐ、勉強会の場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138160" y="4907280"/>
            <a:ext cx="3413455" cy="1292352"/>
          </a:xfrm>
          <a:prstGeom prst="roundRect">
            <a:avLst>
              <a:gd name="adj" fmla="val 5660"/>
            </a:avLst>
          </a:prstGeom>
          <a:solidFill>
            <a:srgbClr val="FDF4EB"/>
          </a:solidFill>
          <a:ln w="19050">
            <a:solidFill>
              <a:srgbClr val="E891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75320" y="4971288"/>
            <a:ext cx="313913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どのように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275320" y="5291328"/>
            <a:ext cx="3139135" cy="85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学内SNSと企画ツールで、無料で始めて学内の口コミで広げる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事業ドメイン設計（記入用）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あなたのサークルについて書きましょう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9149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10591495" y="44805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463040" y="1965960"/>
            <a:ext cx="2103120" cy="2103120"/>
          </a:xfrm>
          <a:prstGeom prst="ellipse">
            <a:avLst/>
          </a:prstGeom>
          <a:solidFill>
            <a:srgbClr val="028090">
              <a:alpha val="38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383280"/>
            <a:ext cx="2103120" cy="2103120"/>
          </a:xfrm>
          <a:prstGeom prst="ellipse">
            <a:avLst/>
          </a:prstGeom>
          <a:solidFill>
            <a:srgbClr val="3E8E5A">
              <a:alpha val="38000"/>
            </a:srgbClr>
          </a:solidFill>
          <a:ln w="25400">
            <a:solidFill>
              <a:srgbClr val="3E8E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40280" y="3383280"/>
            <a:ext cx="2103120" cy="2103120"/>
          </a:xfrm>
          <a:prstGeom prst="ellipse">
            <a:avLst/>
          </a:prstGeom>
          <a:solidFill>
            <a:srgbClr val="E8913A">
              <a:alpha val="38000"/>
            </a:srgbClr>
          </a:solidFill>
          <a:ln w="25400">
            <a:solidFill>
              <a:srgbClr val="E891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22860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28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誰に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46177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3E8E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1760" y="4617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どのように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74520" y="370332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事業</a:t>
            </a:r>
            <a:endParaRPr lang="en-US" sz="11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ドメイン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1874520"/>
            <a:ext cx="6979615" cy="1368552"/>
          </a:xfrm>
          <a:prstGeom prst="roundRect">
            <a:avLst>
              <a:gd name="adj" fmla="val 5345"/>
            </a:avLst>
          </a:prstGeom>
          <a:solidFill>
            <a:srgbClr val="E6F2F4"/>
          </a:solidFill>
          <a:ln w="19050">
            <a:solidFill>
              <a:srgbClr val="028090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709160" y="1938528"/>
            <a:ext cx="670529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誰に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09160" y="2240280"/>
            <a:ext cx="6705295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ターゲットは誰か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2779776"/>
            <a:ext cx="6705295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709160" y="3090672"/>
            <a:ext cx="6705295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572000" y="3352800"/>
            <a:ext cx="6979615" cy="1368552"/>
          </a:xfrm>
          <a:prstGeom prst="roundRect">
            <a:avLst>
              <a:gd name="adj" fmla="val 5345"/>
            </a:avLst>
          </a:prstGeom>
          <a:solidFill>
            <a:srgbClr val="ECF4EF"/>
          </a:solidFill>
          <a:ln w="19050">
            <a:solidFill>
              <a:srgbClr val="3E8E5A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16808"/>
            <a:ext cx="670529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E8E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09160" y="3718560"/>
            <a:ext cx="6705295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どんな価値を届けるか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4258056"/>
            <a:ext cx="6705295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709160" y="4568952"/>
            <a:ext cx="6705295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572000" y="4831080"/>
            <a:ext cx="6979615" cy="1368552"/>
          </a:xfrm>
          <a:prstGeom prst="roundRect">
            <a:avLst>
              <a:gd name="adj" fmla="val 5345"/>
            </a:avLst>
          </a:prstGeom>
          <a:solidFill>
            <a:srgbClr val="FDF4EB"/>
          </a:solidFill>
          <a:ln w="19050">
            <a:solidFill>
              <a:srgbClr val="E8913A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4709160" y="4895088"/>
            <a:ext cx="670529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どのように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09160" y="5196840"/>
            <a:ext cx="6705295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どう届けるか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5736336"/>
            <a:ext cx="6705295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709160" y="6047232"/>
            <a:ext cx="6705295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強みの棚卸しシート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リーダー経験から、自分の強みを根拠つきで取り出す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7568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6654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意味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" y="246888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経験を振り返り、そこで発揮した力と、その証拠を整理すること。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45948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569208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560064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狙い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" y="396240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「リーダーをやった」を、「何ができる人か」に言い換える。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4953000"/>
            <a:ext cx="3291840" cy="1356360"/>
          </a:xfrm>
          <a:prstGeom prst="roundRect">
            <a:avLst>
              <a:gd name="adj" fmla="val 5393"/>
            </a:avLst>
          </a:prstGeom>
          <a:solidFill>
            <a:srgbClr val="EEF3FD"/>
          </a:solidFill>
          <a:ln w="15875">
            <a:solidFill>
              <a:srgbClr val="D9E2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506272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3E8E5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5053584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得られる効果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" y="5455920"/>
            <a:ext cx="2962656" cy="80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自己PRで、強みを根拠とともに具体的に話せる。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06240" y="1737360"/>
            <a:ext cx="734537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記入例：ひだまりテニスサークル（架空）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16038" y="3108960"/>
            <a:ext cx="5141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27641" y="3108960"/>
            <a:ext cx="51417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21728" y="4480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▲ 根拠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06240" y="2286000"/>
            <a:ext cx="1909798" cy="2194560"/>
          </a:xfrm>
          <a:prstGeom prst="roundRect">
            <a:avLst>
              <a:gd name="adj" fmla="val 3830"/>
            </a:avLst>
          </a:prstGeom>
          <a:solidFill>
            <a:srgbClr val="E6F2F4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2350008"/>
            <a:ext cx="163547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経験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343400" y="2670048"/>
            <a:ext cx="1635478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部長として体験会の運営を担当した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30214" y="2103120"/>
            <a:ext cx="2497428" cy="2377440"/>
          </a:xfrm>
          <a:prstGeom prst="ellipse">
            <a:avLst>
              <a:gd name="adj" fmla="val 3077"/>
            </a:avLst>
          </a:prstGeom>
          <a:solidFill>
            <a:srgbClr val="FDF4EB"/>
          </a:solidFill>
          <a:ln w="19050">
            <a:solidFill>
              <a:srgbClr val="E891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30214" y="2435962"/>
            <a:ext cx="249742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強み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004828" y="2783434"/>
            <a:ext cx="1748199" cy="16422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人の話を聞いて、役割を調整する力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641818" y="2286000"/>
            <a:ext cx="1909798" cy="2194560"/>
          </a:xfrm>
          <a:prstGeom prst="roundRect">
            <a:avLst>
              <a:gd name="adj" fmla="val 3830"/>
            </a:avLst>
          </a:prstGeom>
          <a:solidFill>
            <a:srgbClr val="ECF4EF"/>
          </a:solidFill>
          <a:ln w="19050">
            <a:solidFill>
              <a:srgbClr val="3E8E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78978" y="2350008"/>
            <a:ext cx="163547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E8E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活かし方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778978" y="2670048"/>
            <a:ext cx="1635478" cy="17556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チームの仕事で、メンバーの得意を見つけて役割を任せる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73014" y="4800600"/>
            <a:ext cx="3411828" cy="1508760"/>
          </a:xfrm>
          <a:prstGeom prst="roundRect">
            <a:avLst>
              <a:gd name="adj" fmla="val 4848"/>
            </a:avLst>
          </a:prstGeom>
          <a:solidFill>
            <a:srgbClr val="E9E9E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10174" y="4864608"/>
            <a:ext cx="313750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証拠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310174" y="5184648"/>
            <a:ext cx="3137508" cy="1069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入部者が22人に。副部長から「相談しやすい」と言われた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48056"/>
            <a:ext cx="13533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1153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強みの棚卸しシート（記入用）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あなたのサークルについて書きましょう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91495" y="457200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10591495" y="448056"/>
            <a:ext cx="960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WORK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7079" y="2880360"/>
            <a:ext cx="763807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50809" y="2880360"/>
            <a:ext cx="763807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38648" y="4251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▲ 根拠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057400"/>
            <a:ext cx="2836999" cy="2194560"/>
          </a:xfrm>
          <a:prstGeom prst="roundRect">
            <a:avLst>
              <a:gd name="adj" fmla="val 3333"/>
            </a:avLst>
          </a:prstGeom>
          <a:solidFill>
            <a:srgbClr val="E6F2F4"/>
          </a:solidFill>
          <a:ln w="19050">
            <a:solidFill>
              <a:srgbClr val="02809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777240" y="2121408"/>
            <a:ext cx="2562679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02809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経験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2423160"/>
            <a:ext cx="2562679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やったこと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7240" y="2962656"/>
            <a:ext cx="2562679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777240" y="3273552"/>
            <a:ext cx="2562679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777240" y="3584448"/>
            <a:ext cx="2562679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77240" y="3895344"/>
            <a:ext cx="2562679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240887" y="1874520"/>
            <a:ext cx="3709922" cy="2377440"/>
          </a:xfrm>
          <a:prstGeom prst="ellipse">
            <a:avLst>
              <a:gd name="adj" fmla="val 3077"/>
            </a:avLst>
          </a:prstGeom>
          <a:solidFill>
            <a:srgbClr val="FDF4EB"/>
          </a:solidFill>
          <a:ln w="19050">
            <a:solidFill>
              <a:srgbClr val="E8913A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4240887" y="2207362"/>
            <a:ext cx="370992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E8913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強み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97375" y="2536546"/>
            <a:ext cx="2596945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そこで使った力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97375" y="3076042"/>
            <a:ext cx="2596945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797375" y="3386938"/>
            <a:ext cx="2596945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797375" y="3697834"/>
            <a:ext cx="2596945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797375" y="4008730"/>
            <a:ext cx="2596945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8714616" y="2057400"/>
            <a:ext cx="2836999" cy="2194560"/>
          </a:xfrm>
          <a:prstGeom prst="roundRect">
            <a:avLst>
              <a:gd name="adj" fmla="val 3333"/>
            </a:avLst>
          </a:prstGeom>
          <a:solidFill>
            <a:srgbClr val="ECF4EF"/>
          </a:solidFill>
          <a:ln w="19050">
            <a:solidFill>
              <a:srgbClr val="3E8E5A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8851776" y="2121408"/>
            <a:ext cx="2562679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3E8E5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活かし方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851776" y="2423160"/>
            <a:ext cx="2562679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これからどう使うか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851776" y="2962656"/>
            <a:ext cx="2562679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8851776" y="3273552"/>
            <a:ext cx="2562679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8851776" y="3584448"/>
            <a:ext cx="2562679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8851776" y="3895344"/>
            <a:ext cx="2562679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3783687" y="4572000"/>
            <a:ext cx="4624322" cy="1737360"/>
          </a:xfrm>
          <a:prstGeom prst="roundRect">
            <a:avLst>
              <a:gd name="adj" fmla="val 4211"/>
            </a:avLst>
          </a:prstGeom>
          <a:solidFill>
            <a:srgbClr val="E9E9EF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3920847" y="4636008"/>
            <a:ext cx="435000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証拠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920847" y="4937760"/>
            <a:ext cx="4350002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00" i="1" dirty="0">
                <a:solidFill>
                  <a:srgbClr val="666666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数字や周りの評価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920847" y="5477256"/>
            <a:ext cx="4350002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3920847" y="5788152"/>
            <a:ext cx="4350002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3920847" y="6099048"/>
            <a:ext cx="4350002" cy="0"/>
          </a:xfrm>
          <a:prstGeom prst="line">
            <a:avLst/>
          </a:prstGeom>
          <a:noFill/>
          <a:ln w="12700">
            <a:solidFill>
              <a:srgbClr val="D9E2F2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2026-10-14T13:47:42Z</dcterms:created>
  <dcterms:modified xsi:type="dcterms:W3CDTF">2026-10-14T13:47:42Z</dcterms:modified>
</cp:coreProperties>
</file>