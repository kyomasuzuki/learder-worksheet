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572000" cy="4572000"/>
          </a:xfrm>
          <a:prstGeom prst="ellipse">
            <a:avLst/>
          </a:prstGeom>
          <a:solidFill>
            <a:srgbClr val="141B4D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554480"/>
            <a:ext cx="475488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45336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第1弾｜サークル・委員会リーダー向け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リーダーのためのワークシート集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108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理念／SWOT／経験の言語化／役割分担／WBS／引き継ぎ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すべて無料・学生団体のみなさんは自由に使えます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1つのワークは2枚。まず例を読み、次に白紙に書きます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37744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解説と記入例を読む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5661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意味・狙い・効果と、サークルでの記入例を確認します。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210312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377440"/>
            <a:ext cx="548640" cy="548640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17720" y="31089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白紙のシートに書く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35661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自分のサークルについて、思いつくまま書き込みます。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210312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2377440"/>
            <a:ext cx="548640" cy="548640"/>
          </a:xfrm>
          <a:prstGeom prst="ellipse">
            <a:avLst/>
          </a:prstGeom>
          <a:solidFill>
            <a:srgbClr val="C05A5A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321040" y="31089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メンバーと見せ合う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0" y="35661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幹部や仲間と読み合い、直して決定版にします。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394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※記入例は架空のサークル・架空のアイデアです。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サークルの理念づくり（MVV）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何のために存在し、どこを目指し、何を大切にするかを言葉にする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7568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6654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246888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ミッション（存在意義）・ビジョン（目指す姿）・バリュー（大切な行動の約束）を言葉にすること。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45948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5692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56006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" y="396240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メンバーの向きをそろえ、迷ったときの判断基準をつくる。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495300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50627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053584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4672" y="545592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新歓での説明に一貫性が出て、代替わりしても方針がぶれない。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06240" y="1737360"/>
            <a:ext cx="734537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809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記入例：ひだまりテニスサークル（架空）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120640" y="2103120"/>
            <a:ext cx="1463040" cy="137160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5120640" y="28803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ミッション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63440" y="3529584"/>
            <a:ext cx="2377440" cy="1371600"/>
          </a:xfrm>
          <a:prstGeom prst="trapezoid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4069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ビジョン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206240" y="4956048"/>
            <a:ext cx="3291840" cy="1371600"/>
          </a:xfrm>
          <a:prstGeom prst="trapezoid">
            <a:avLst/>
          </a:prstGeom>
          <a:solidFill>
            <a:srgbClr val="E8913A"/>
          </a:solidFill>
          <a:ln/>
        </p:spPr>
      </p:sp>
      <p:sp>
        <p:nvSpPr>
          <p:cNvPr id="24" name="Text 22"/>
          <p:cNvSpPr/>
          <p:nvPr/>
        </p:nvSpPr>
        <p:spPr>
          <a:xfrm>
            <a:off x="4206240" y="5486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バリュー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772400" y="2103120"/>
            <a:ext cx="3779215" cy="1371600"/>
          </a:xfrm>
          <a:prstGeom prst="roundRect">
            <a:avLst>
              <a:gd name="adj" fmla="val 5333"/>
            </a:avLst>
          </a:prstGeom>
          <a:solidFill>
            <a:srgbClr val="E9E9E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09560" y="2194560"/>
            <a:ext cx="3504895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運動が苦手な人も、仲間と楽しく体を動かせる場をつくる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0" y="3529584"/>
            <a:ext cx="3779215" cy="1371600"/>
          </a:xfrm>
          <a:prstGeom prst="roundRect">
            <a:avLst>
              <a:gd name="adj" fmla="val 5333"/>
            </a:avLst>
          </a:prstGeom>
          <a:solidFill>
            <a:srgbClr val="E6F2F4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09560" y="3621024"/>
            <a:ext cx="3504895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3年後、入部した新入生の8割が1年以上続けるサークルになる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772400" y="4956048"/>
            <a:ext cx="3779215" cy="1371600"/>
          </a:xfrm>
          <a:prstGeom prst="roundRect">
            <a:avLst>
              <a:gd name="adj" fmla="val 5333"/>
            </a:avLst>
          </a:prstGeom>
          <a:solidFill>
            <a:srgbClr val="FDF4EB"/>
          </a:solidFill>
          <a:ln w="19050">
            <a:solidFill>
              <a:srgbClr val="E891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09560" y="5047488"/>
            <a:ext cx="3504895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初心者を置いていかない／勝敗より雰囲気を優先する／全員に役割がある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サークルの理念づくり（MVV）（記入用）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554480" y="1874520"/>
            <a:ext cx="1463040" cy="137160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2651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ミッション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97280" y="3300984"/>
            <a:ext cx="2377440" cy="1371600"/>
          </a:xfrm>
          <a:prstGeom prst="trapezoid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840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ビジョン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727448"/>
            <a:ext cx="3291840" cy="1371600"/>
          </a:xfrm>
          <a:prstGeom prst="trapezoid">
            <a:avLst/>
          </a:prstGeom>
          <a:solidFill>
            <a:srgbClr val="E8913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52578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バリュー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06240" y="1874520"/>
            <a:ext cx="7345375" cy="1371600"/>
          </a:xfrm>
          <a:prstGeom prst="roundRect">
            <a:avLst>
              <a:gd name="adj" fmla="val 5333"/>
            </a:avLst>
          </a:prstGeom>
          <a:solidFill>
            <a:srgbClr val="E9E9E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4343400" y="1947672"/>
            <a:ext cx="7071055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何のために存在するか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343400" y="2487168"/>
            <a:ext cx="707105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343400" y="2798064"/>
            <a:ext cx="707105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4206240" y="3300984"/>
            <a:ext cx="7345375" cy="1371600"/>
          </a:xfrm>
          <a:prstGeom prst="roundRect">
            <a:avLst>
              <a:gd name="adj" fmla="val 5333"/>
            </a:avLst>
          </a:prstGeom>
          <a:solidFill>
            <a:srgbClr val="E6F2F4"/>
          </a:solidFill>
          <a:ln w="19050">
            <a:solidFill>
              <a:srgbClr val="028090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343400" y="3374136"/>
            <a:ext cx="7071055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3年後にどうなっていたいか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343400" y="3913632"/>
            <a:ext cx="707105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343400" y="4224528"/>
            <a:ext cx="707105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206240" y="4727448"/>
            <a:ext cx="7345375" cy="1371600"/>
          </a:xfrm>
          <a:prstGeom prst="roundRect">
            <a:avLst>
              <a:gd name="adj" fmla="val 5333"/>
            </a:avLst>
          </a:prstGeom>
          <a:solidFill>
            <a:srgbClr val="FDF4EB"/>
          </a:solidFill>
          <a:ln w="19050">
            <a:solidFill>
              <a:srgbClr val="E8913A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4343400" y="4800600"/>
            <a:ext cx="7071055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大切にする行動の約束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343400" y="5340096"/>
            <a:ext cx="707105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343400" y="5650992"/>
            <a:ext cx="707105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サークルのSWOT分析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強み・弱み・機会・脅威を整理して、次の一手を見つける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7568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6654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246888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内部の強み・弱みと、外部の機会・脅威を4つに整理する分析。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45948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5692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56006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" y="396240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感覚で語りがちな現状を、客観的に言葉にそろえる。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495300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50627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053584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4672" y="545592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新歓や活動方針で「どこに力を入れるか」を根拠をもって決められる。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06240" y="1737360"/>
            <a:ext cx="734537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3E8E5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記入例：ひだまりテニスサークル（架空）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09160" y="2103120"/>
            <a:ext cx="337550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プラス要因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176108" y="2103120"/>
            <a:ext cx="337550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マイナス要因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 rot="16200000">
            <a:off x="3520440" y="32004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内部環境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 rot="16200000">
            <a:off x="3520440" y="5212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外部環境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09160" y="2423160"/>
            <a:ext cx="3375508" cy="1920240"/>
          </a:xfrm>
          <a:prstGeom prst="roundRect">
            <a:avLst>
              <a:gd name="adj" fmla="val 3810"/>
            </a:avLst>
          </a:prstGeom>
          <a:solidFill>
            <a:srgbClr val="ECF4EF"/>
          </a:solidFill>
          <a:ln w="19050">
            <a:solidFill>
              <a:srgbClr val="3E8E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2487168"/>
            <a:ext cx="31011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3E8E5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 強み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846320" y="2807208"/>
            <a:ext cx="310118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初心者歓迎の雰囲気／コートを無料で使える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176108" y="2423160"/>
            <a:ext cx="3375508" cy="1920240"/>
          </a:xfrm>
          <a:prstGeom prst="roundRect">
            <a:avLst>
              <a:gd name="adj" fmla="val 3810"/>
            </a:avLst>
          </a:prstGeom>
          <a:solidFill>
            <a:srgbClr val="F9EFEF"/>
          </a:solidFill>
          <a:ln w="19050">
            <a:solidFill>
              <a:srgbClr val="C05A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13268" y="2487168"/>
            <a:ext cx="31011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C05A5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 弱み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313268" y="2807208"/>
            <a:ext cx="310118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幹部に仕事が集中／SNSの更新が止まっている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09160" y="4434840"/>
            <a:ext cx="3375508" cy="1920240"/>
          </a:xfrm>
          <a:prstGeom prst="roundRect">
            <a:avLst>
              <a:gd name="adj" fmla="val 3810"/>
            </a:avLst>
          </a:prstGeom>
          <a:solidFill>
            <a:srgbClr val="E6F2F4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4498848"/>
            <a:ext cx="31011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2809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 機会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846320" y="4818888"/>
            <a:ext cx="310118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運動不足を気にする新入生が多い／学内に似たサークルが少ない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176108" y="4434840"/>
            <a:ext cx="3375508" cy="1920240"/>
          </a:xfrm>
          <a:prstGeom prst="roundRect">
            <a:avLst>
              <a:gd name="adj" fmla="val 3810"/>
            </a:avLst>
          </a:prstGeom>
          <a:solidFill>
            <a:srgbClr val="F0F1F2"/>
          </a:solidFill>
          <a:ln w="19050">
            <a:solidFill>
              <a:srgbClr val="6B72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13268" y="4498848"/>
            <a:ext cx="31011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 脅威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8313268" y="4818888"/>
            <a:ext cx="310118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人気の他サークルに新入生が流れる／卒業で人数が減る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サークルのSWOT分析（記入用）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43000" y="1874520"/>
            <a:ext cx="51585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プラス要因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93028" y="1874520"/>
            <a:ext cx="51585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マイナス要因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 rot="16200000">
            <a:off x="-102870" y="3028950"/>
            <a:ext cx="20345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内部環境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 rot="16200000">
            <a:off x="-102870" y="5154930"/>
            <a:ext cx="20345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外部環境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2194560"/>
            <a:ext cx="5158588" cy="2034540"/>
          </a:xfrm>
          <a:prstGeom prst="roundRect">
            <a:avLst>
              <a:gd name="adj" fmla="val 3596"/>
            </a:avLst>
          </a:prstGeom>
          <a:solidFill>
            <a:srgbClr val="ECF4EF"/>
          </a:solidFill>
          <a:ln w="19050">
            <a:solidFill>
              <a:srgbClr val="3E8E5A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1280160" y="2258568"/>
            <a:ext cx="488426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3E8E5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 強み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280160" y="2560320"/>
            <a:ext cx="488426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自分たちの内側のプラス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280160" y="3099816"/>
            <a:ext cx="4884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280160" y="3410712"/>
            <a:ext cx="4884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280160" y="3721608"/>
            <a:ext cx="4884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1280160" y="4032504"/>
            <a:ext cx="4884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393028" y="2194560"/>
            <a:ext cx="5158588" cy="2034540"/>
          </a:xfrm>
          <a:prstGeom prst="roundRect">
            <a:avLst>
              <a:gd name="adj" fmla="val 3596"/>
            </a:avLst>
          </a:prstGeom>
          <a:solidFill>
            <a:srgbClr val="F9EFEF"/>
          </a:solidFill>
          <a:ln w="19050">
            <a:solidFill>
              <a:srgbClr val="C05A5A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6530188" y="2258568"/>
            <a:ext cx="488426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C05A5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 弱み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30188" y="2560320"/>
            <a:ext cx="488426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自分たちの内側のマイナス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530188" y="3099816"/>
            <a:ext cx="4884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6530188" y="3410712"/>
            <a:ext cx="4884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530188" y="3721608"/>
            <a:ext cx="4884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530188" y="4032504"/>
            <a:ext cx="4884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1143000" y="4320540"/>
            <a:ext cx="5158588" cy="2034540"/>
          </a:xfrm>
          <a:prstGeom prst="roundRect">
            <a:avLst>
              <a:gd name="adj" fmla="val 3596"/>
            </a:avLst>
          </a:prstGeom>
          <a:solidFill>
            <a:srgbClr val="E6F2F4"/>
          </a:solidFill>
          <a:ln w="19050">
            <a:solidFill>
              <a:srgbClr val="02809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280160" y="4384548"/>
            <a:ext cx="488426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2809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 機会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280160" y="4686300"/>
            <a:ext cx="488426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外側の追い風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280160" y="5225796"/>
            <a:ext cx="4884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1280160" y="5536692"/>
            <a:ext cx="4884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1280160" y="5847588"/>
            <a:ext cx="4884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1280160" y="6158484"/>
            <a:ext cx="4884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393028" y="4320540"/>
            <a:ext cx="5158588" cy="2034540"/>
          </a:xfrm>
          <a:prstGeom prst="roundRect">
            <a:avLst>
              <a:gd name="adj" fmla="val 3596"/>
            </a:avLst>
          </a:prstGeom>
          <a:solidFill>
            <a:srgbClr val="F0F1F2"/>
          </a:solidFill>
          <a:ln w="19050">
            <a:solidFill>
              <a:srgbClr val="6B728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530188" y="4384548"/>
            <a:ext cx="488426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 脅威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530188" y="4686300"/>
            <a:ext cx="488426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外側の逆風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530188" y="5225796"/>
            <a:ext cx="4884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530188" y="5536692"/>
            <a:ext cx="4884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530188" y="5847588"/>
            <a:ext cx="4884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530188" y="6158484"/>
            <a:ext cx="4884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経験の言語化シート（STAR法）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リーダー経験を、人に伝わる成果の形に整理する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7568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6654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246888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状況・課題・行動・結果の4つの順で、自分の経験を整理する方法。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45948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5692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56006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" y="396240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「頑張った」で終わらず、自分が何をして何が変わったかを示す。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495300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50627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053584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4672" y="545592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自己PRや面接で、経験を短く具体的に話せるようになる。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06240" y="1737360"/>
            <a:ext cx="734537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05A5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記入例：ひだまりテニスサークル（架空）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06240" y="2103120"/>
            <a:ext cx="1982648" cy="685800"/>
          </a:xfrm>
          <a:prstGeom prst="chevron">
            <a:avLst/>
          </a:prstGeom>
          <a:solidFill>
            <a:srgbClr val="028090"/>
          </a:solidFill>
          <a:ln/>
        </p:spPr>
      </p:sp>
      <p:sp>
        <p:nvSpPr>
          <p:cNvPr id="20" name="Shape 18"/>
          <p:cNvSpPr/>
          <p:nvPr/>
        </p:nvSpPr>
        <p:spPr>
          <a:xfrm>
            <a:off x="5978576" y="2103120"/>
            <a:ext cx="1982648" cy="685800"/>
          </a:xfrm>
          <a:prstGeom prst="chevron">
            <a:avLst/>
          </a:prstGeom>
          <a:solidFill>
            <a:srgbClr val="3E8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7842352" y="2103120"/>
            <a:ext cx="1982648" cy="685800"/>
          </a:xfrm>
          <a:prstGeom prst="chevron">
            <a:avLst/>
          </a:prstGeom>
          <a:solidFill>
            <a:srgbClr val="E8913A"/>
          </a:solidFill>
          <a:ln/>
        </p:spPr>
      </p:sp>
      <p:sp>
        <p:nvSpPr>
          <p:cNvPr id="22" name="Shape 20"/>
          <p:cNvSpPr/>
          <p:nvPr/>
        </p:nvSpPr>
        <p:spPr>
          <a:xfrm>
            <a:off x="9706127" y="2103120"/>
            <a:ext cx="1982648" cy="685800"/>
          </a:xfrm>
          <a:prstGeom prst="chevron">
            <a:avLst/>
          </a:prstGeom>
          <a:solidFill>
            <a:srgbClr val="C05A5A"/>
          </a:solidFill>
          <a:ln/>
        </p:spPr>
      </p:sp>
      <p:sp>
        <p:nvSpPr>
          <p:cNvPr id="23" name="Shape 21"/>
          <p:cNvSpPr/>
          <p:nvPr/>
        </p:nvSpPr>
        <p:spPr>
          <a:xfrm>
            <a:off x="4206240" y="2926080"/>
            <a:ext cx="1754048" cy="3383280"/>
          </a:xfrm>
          <a:prstGeom prst="roundRect">
            <a:avLst>
              <a:gd name="adj" fmla="val 4170"/>
            </a:avLst>
          </a:prstGeom>
          <a:solidFill>
            <a:srgbClr val="E6F2F4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06240" y="2926080"/>
            <a:ext cx="1754048" cy="3657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5" name="Text 23"/>
          <p:cNvSpPr/>
          <p:nvPr/>
        </p:nvSpPr>
        <p:spPr>
          <a:xfrm>
            <a:off x="4315968" y="2926080"/>
            <a:ext cx="157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 状況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343400" y="3383280"/>
            <a:ext cx="1479728" cy="2871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新歓で、入部者が前年の半分に減っていた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070016" y="2926080"/>
            <a:ext cx="1754048" cy="3383280"/>
          </a:xfrm>
          <a:prstGeom prst="roundRect">
            <a:avLst>
              <a:gd name="adj" fmla="val 4170"/>
            </a:avLst>
          </a:prstGeom>
          <a:solidFill>
            <a:srgbClr val="ECF4EF"/>
          </a:solidFill>
          <a:ln w="19050">
            <a:solidFill>
              <a:srgbClr val="3E8E5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70016" y="2926080"/>
            <a:ext cx="1754048" cy="365760"/>
          </a:xfrm>
          <a:prstGeom prst="rect">
            <a:avLst/>
          </a:prstGeom>
          <a:solidFill>
            <a:srgbClr val="3E8E5A"/>
          </a:solidFill>
          <a:ln/>
        </p:spPr>
      </p:sp>
      <p:sp>
        <p:nvSpPr>
          <p:cNvPr id="29" name="Text 27"/>
          <p:cNvSpPr/>
          <p:nvPr/>
        </p:nvSpPr>
        <p:spPr>
          <a:xfrm>
            <a:off x="6179744" y="2926080"/>
            <a:ext cx="157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 課題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07176" y="3383280"/>
            <a:ext cx="1479728" cy="2871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入部者を前年並みの20人に戻す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933792" y="2926080"/>
            <a:ext cx="1754048" cy="3383280"/>
          </a:xfrm>
          <a:prstGeom prst="roundRect">
            <a:avLst>
              <a:gd name="adj" fmla="val 4170"/>
            </a:avLst>
          </a:prstGeom>
          <a:solidFill>
            <a:srgbClr val="FDF4EB"/>
          </a:solidFill>
          <a:ln w="19050">
            <a:solidFill>
              <a:srgbClr val="E8913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33792" y="2926080"/>
            <a:ext cx="1754048" cy="36576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3" name="Text 31"/>
          <p:cNvSpPr/>
          <p:nvPr/>
        </p:nvSpPr>
        <p:spPr>
          <a:xfrm>
            <a:off x="8043520" y="2926080"/>
            <a:ext cx="157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 行動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70952" y="3383280"/>
            <a:ext cx="1479728" cy="2871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体験会を週3回に増やし、先輩が初心者に1対1でつく担当制にした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797567" y="2926080"/>
            <a:ext cx="1754048" cy="3383280"/>
          </a:xfrm>
          <a:prstGeom prst="roundRect">
            <a:avLst>
              <a:gd name="adj" fmla="val 4170"/>
            </a:avLst>
          </a:prstGeom>
          <a:solidFill>
            <a:srgbClr val="F9EFEF"/>
          </a:solidFill>
          <a:ln w="19050">
            <a:solidFill>
              <a:srgbClr val="C05A5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97567" y="2926080"/>
            <a:ext cx="1754048" cy="365760"/>
          </a:xfrm>
          <a:prstGeom prst="rect">
            <a:avLst/>
          </a:prstGeom>
          <a:solidFill>
            <a:srgbClr val="C05A5A"/>
          </a:solidFill>
          <a:ln/>
        </p:spPr>
      </p:sp>
      <p:sp>
        <p:nvSpPr>
          <p:cNvPr id="37" name="Text 35"/>
          <p:cNvSpPr/>
          <p:nvPr/>
        </p:nvSpPr>
        <p:spPr>
          <a:xfrm>
            <a:off x="9907295" y="2926080"/>
            <a:ext cx="157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 結果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934727" y="3383280"/>
            <a:ext cx="1479728" cy="2871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入部者が22人になり、1年後の継続率も前年より上がった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経験の言語化シート（STAR法）（記入用）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2874188" cy="685800"/>
          </a:xfrm>
          <a:prstGeom prst="chevron">
            <a:avLst/>
          </a:prstGeom>
          <a:solidFill>
            <a:srgbClr val="028090"/>
          </a:solidFill>
          <a:ln/>
        </p:spPr>
      </p:sp>
      <p:sp>
        <p:nvSpPr>
          <p:cNvPr id="9" name="Shape 7"/>
          <p:cNvSpPr/>
          <p:nvPr/>
        </p:nvSpPr>
        <p:spPr>
          <a:xfrm>
            <a:off x="3303956" y="1874520"/>
            <a:ext cx="2874188" cy="685800"/>
          </a:xfrm>
          <a:prstGeom prst="chevron">
            <a:avLst/>
          </a:prstGeom>
          <a:solidFill>
            <a:srgbClr val="3E8E5A"/>
          </a:solidFill>
          <a:ln/>
        </p:spPr>
      </p:sp>
      <p:sp>
        <p:nvSpPr>
          <p:cNvPr id="10" name="Shape 8"/>
          <p:cNvSpPr/>
          <p:nvPr/>
        </p:nvSpPr>
        <p:spPr>
          <a:xfrm>
            <a:off x="6059272" y="1874520"/>
            <a:ext cx="2874188" cy="685800"/>
          </a:xfrm>
          <a:prstGeom prst="chevron">
            <a:avLst/>
          </a:prstGeom>
          <a:solidFill>
            <a:srgbClr val="E8913A"/>
          </a:solidFill>
          <a:ln/>
        </p:spPr>
      </p:sp>
      <p:sp>
        <p:nvSpPr>
          <p:cNvPr id="11" name="Shape 9"/>
          <p:cNvSpPr/>
          <p:nvPr/>
        </p:nvSpPr>
        <p:spPr>
          <a:xfrm>
            <a:off x="8814587" y="1874520"/>
            <a:ext cx="2874188" cy="685800"/>
          </a:xfrm>
          <a:prstGeom prst="chevron">
            <a:avLst/>
          </a:prstGeom>
          <a:solidFill>
            <a:srgbClr val="C05A5A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697480"/>
            <a:ext cx="2645588" cy="3611880"/>
          </a:xfrm>
          <a:prstGeom prst="roundRect">
            <a:avLst>
              <a:gd name="adj" fmla="val 2765"/>
            </a:avLst>
          </a:prstGeom>
          <a:solidFill>
            <a:srgbClr val="E6F2F4"/>
          </a:solidFill>
          <a:ln w="19050">
            <a:solidFill>
              <a:srgbClr val="028090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40080" y="2697480"/>
            <a:ext cx="2645588" cy="3657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" y="2697480"/>
            <a:ext cx="24627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 状況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3136392"/>
            <a:ext cx="237126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どんな場面だったか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77240" y="3675888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777240" y="3986784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77240" y="4297680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77240" y="4608576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77240" y="4919472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77240" y="5230368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777240" y="5541264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777240" y="5852160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395396" y="2697480"/>
            <a:ext cx="2645588" cy="3611880"/>
          </a:xfrm>
          <a:prstGeom prst="roundRect">
            <a:avLst>
              <a:gd name="adj" fmla="val 2765"/>
            </a:avLst>
          </a:prstGeom>
          <a:solidFill>
            <a:srgbClr val="ECF4EF"/>
          </a:solidFill>
          <a:ln w="19050">
            <a:solidFill>
              <a:srgbClr val="3E8E5A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3395396" y="2697480"/>
            <a:ext cx="2645588" cy="365760"/>
          </a:xfrm>
          <a:prstGeom prst="rect">
            <a:avLst/>
          </a:prstGeom>
          <a:solidFill>
            <a:srgbClr val="3E8E5A"/>
          </a:solidFill>
          <a:ln/>
        </p:spPr>
      </p:sp>
      <p:sp>
        <p:nvSpPr>
          <p:cNvPr id="26" name="Text 24"/>
          <p:cNvSpPr/>
          <p:nvPr/>
        </p:nvSpPr>
        <p:spPr>
          <a:xfrm>
            <a:off x="3505124" y="2697480"/>
            <a:ext cx="24627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 課題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532556" y="3136392"/>
            <a:ext cx="237126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何を達成する必要があったか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532556" y="3675888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532556" y="3986784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3532556" y="4297680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3532556" y="4608576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532556" y="4919472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532556" y="5230368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532556" y="5541264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3532556" y="5852160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150712" y="2697480"/>
            <a:ext cx="2645588" cy="3611880"/>
          </a:xfrm>
          <a:prstGeom prst="roundRect">
            <a:avLst>
              <a:gd name="adj" fmla="val 2765"/>
            </a:avLst>
          </a:prstGeom>
          <a:solidFill>
            <a:srgbClr val="FDF4EB"/>
          </a:solidFill>
          <a:ln w="19050">
            <a:solidFill>
              <a:srgbClr val="E8913A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150712" y="2697480"/>
            <a:ext cx="2645588" cy="36576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8" name="Text 36"/>
          <p:cNvSpPr/>
          <p:nvPr/>
        </p:nvSpPr>
        <p:spPr>
          <a:xfrm>
            <a:off x="6260440" y="2697480"/>
            <a:ext cx="24627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 行動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287872" y="3136392"/>
            <a:ext cx="237126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自分が何をしたか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87872" y="3675888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6287872" y="3986784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6287872" y="4297680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6287872" y="4608576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6287872" y="4919472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6287872" y="5230368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6287872" y="5541264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6287872" y="5852160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8906027" y="2697480"/>
            <a:ext cx="2645588" cy="3611880"/>
          </a:xfrm>
          <a:prstGeom prst="roundRect">
            <a:avLst>
              <a:gd name="adj" fmla="val 2765"/>
            </a:avLst>
          </a:prstGeom>
          <a:solidFill>
            <a:srgbClr val="F9EFEF"/>
          </a:solidFill>
          <a:ln w="19050">
            <a:solidFill>
              <a:srgbClr val="C05A5A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8906027" y="2697480"/>
            <a:ext cx="2645588" cy="365760"/>
          </a:xfrm>
          <a:prstGeom prst="rect">
            <a:avLst/>
          </a:prstGeom>
          <a:solidFill>
            <a:srgbClr val="C05A5A"/>
          </a:solidFill>
          <a:ln/>
        </p:spPr>
      </p:sp>
      <p:sp>
        <p:nvSpPr>
          <p:cNvPr id="50" name="Text 48"/>
          <p:cNvSpPr/>
          <p:nvPr/>
        </p:nvSpPr>
        <p:spPr>
          <a:xfrm>
            <a:off x="9015755" y="2697480"/>
            <a:ext cx="24627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 結果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9043187" y="3136392"/>
            <a:ext cx="237126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何が変わったか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043187" y="3675888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9043187" y="3986784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9043187" y="4297680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9043187" y="4608576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9043187" y="4919472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9043187" y="5230368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9043187" y="5541264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9043187" y="5852160"/>
            <a:ext cx="237126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60" name="Text 5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役割分担表（誰が何を決めるか）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仕事ごとに、実行する人と判断する人をはっきりさせる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7568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6654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246888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1つの仕事について、担当・責任者・相談先・報告先を決める表。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45948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5692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56006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" y="396240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「誰かがやるだろう」を防ぎ、仕事の抜けと偏りを見つける。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495300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50627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053584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4672" y="545592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幹部への負担集中が減り、メンバーが自分の役割を意識して動く。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06240" y="1737360"/>
            <a:ext cx="734537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6C4C8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記入例：ひだまりテニスサークル（架空）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06240" y="2103120"/>
            <a:ext cx="2203613" cy="457200"/>
          </a:xfrm>
          <a:prstGeom prst="rect">
            <a:avLst/>
          </a:prstGeom>
          <a:solidFill>
            <a:srgbClr val="02809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79392" y="2103120"/>
            <a:ext cx="211217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仕事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9853" y="2103120"/>
            <a:ext cx="1469075" cy="457200"/>
          </a:xfrm>
          <a:prstGeom prst="rect">
            <a:avLst/>
          </a:prstGeom>
          <a:solidFill>
            <a:srgbClr val="02809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83005" y="2103120"/>
            <a:ext cx="13776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担当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878928" y="2103120"/>
            <a:ext cx="1469075" cy="457200"/>
          </a:xfrm>
          <a:prstGeom prst="rect">
            <a:avLst/>
          </a:prstGeom>
          <a:solidFill>
            <a:srgbClr val="02809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2080" y="2103120"/>
            <a:ext cx="13776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責任者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48003" y="2103120"/>
            <a:ext cx="2203613" cy="457200"/>
          </a:xfrm>
          <a:prstGeom prst="rect">
            <a:avLst/>
          </a:prstGeom>
          <a:solidFill>
            <a:srgbClr val="02809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21155" y="2103120"/>
            <a:ext cx="211217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相談・報告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206240" y="2834640"/>
            <a:ext cx="2203613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79392" y="2834640"/>
            <a:ext cx="2075597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新歓の体験会を準備する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9853" y="2834640"/>
            <a:ext cx="1469075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83005" y="2834640"/>
            <a:ext cx="134105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2年のAさん・Bさん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878928" y="2834640"/>
            <a:ext cx="1469075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52080" y="2834640"/>
            <a:ext cx="134105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部長（1人だけにする）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348003" y="2834640"/>
            <a:ext cx="2203613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21155" y="2834640"/>
            <a:ext cx="2075597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相談：会計・OB／報告：全体LINEで日報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206240" y="3529584"/>
            <a:ext cx="2203613" cy="694944"/>
          </a:xfrm>
          <a:prstGeom prst="rect">
            <a:avLst/>
          </a:prstGeom>
          <a:solidFill>
            <a:srgbClr val="F0F7F8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79392" y="3529584"/>
            <a:ext cx="2075597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新歓ビラの作成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409853" y="3529584"/>
            <a:ext cx="1469075" cy="694944"/>
          </a:xfrm>
          <a:prstGeom prst="rect">
            <a:avLst/>
          </a:prstGeom>
          <a:solidFill>
            <a:srgbClr val="F0F7F8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83005" y="3529584"/>
            <a:ext cx="134105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広報のCさん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878928" y="3529584"/>
            <a:ext cx="1469075" cy="694944"/>
          </a:xfrm>
          <a:prstGeom prst="rect">
            <a:avLst/>
          </a:prstGeom>
          <a:solidFill>
            <a:srgbClr val="F0F7F8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52080" y="3529584"/>
            <a:ext cx="134105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広報リーダー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348003" y="3529584"/>
            <a:ext cx="2203613" cy="694944"/>
          </a:xfrm>
          <a:prstGeom prst="rect">
            <a:avLst/>
          </a:prstGeom>
          <a:solidFill>
            <a:srgbClr val="F0F7F8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421155" y="3529584"/>
            <a:ext cx="2075597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相談：部長／報告：定例で共有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206240" y="4224528"/>
            <a:ext cx="2203613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279392" y="4224528"/>
            <a:ext cx="2075597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体験会の会場予約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409853" y="4224528"/>
            <a:ext cx="1469075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83005" y="4224528"/>
            <a:ext cx="134105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1年のDさん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878928" y="4224528"/>
            <a:ext cx="1469075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952080" y="4224528"/>
            <a:ext cx="134105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副部長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9348003" y="4224528"/>
            <a:ext cx="2203613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21155" y="4224528"/>
            <a:ext cx="2075597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相談：学生課／報告：全体LINE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206240" y="4919472"/>
            <a:ext cx="2203613" cy="694944"/>
          </a:xfrm>
          <a:prstGeom prst="rect">
            <a:avLst/>
          </a:prstGeom>
          <a:solidFill>
            <a:srgbClr val="F0F7F8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409853" y="4919472"/>
            <a:ext cx="1469075" cy="694944"/>
          </a:xfrm>
          <a:prstGeom prst="rect">
            <a:avLst/>
          </a:prstGeom>
          <a:solidFill>
            <a:srgbClr val="F0F7F8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878928" y="4919472"/>
            <a:ext cx="1469075" cy="694944"/>
          </a:xfrm>
          <a:prstGeom prst="rect">
            <a:avLst/>
          </a:prstGeom>
          <a:solidFill>
            <a:srgbClr val="F0F7F8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348003" y="4919472"/>
            <a:ext cx="2203613" cy="694944"/>
          </a:xfrm>
          <a:prstGeom prst="rect">
            <a:avLst/>
          </a:prstGeom>
          <a:solidFill>
            <a:srgbClr val="F0F7F8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206240" y="5614416"/>
            <a:ext cx="2203613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409853" y="5614416"/>
            <a:ext cx="1469075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878928" y="5614416"/>
            <a:ext cx="1469075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348003" y="5614416"/>
            <a:ext cx="2203613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役割分担表（誰が何を決めるか）（記入用）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3273461" cy="457200"/>
          </a:xfrm>
          <a:prstGeom prst="rect">
            <a:avLst/>
          </a:prstGeom>
          <a:solidFill>
            <a:srgbClr val="02809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874520"/>
            <a:ext cx="318202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仕事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2331720"/>
            <a:ext cx="3182021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何をするか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913541" y="1874520"/>
            <a:ext cx="2182307" cy="457200"/>
          </a:xfrm>
          <a:prstGeom prst="rect">
            <a:avLst/>
          </a:prstGeom>
          <a:solidFill>
            <a:srgbClr val="02809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86693" y="1874520"/>
            <a:ext cx="209086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担当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86693" y="2331720"/>
            <a:ext cx="2090867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実際に動く人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095848" y="1874520"/>
            <a:ext cx="2182307" cy="457200"/>
          </a:xfrm>
          <a:prstGeom prst="rect">
            <a:avLst/>
          </a:prstGeom>
          <a:solidFill>
            <a:srgbClr val="02809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9000" y="1874520"/>
            <a:ext cx="209086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責任者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69000" y="2331720"/>
            <a:ext cx="2090867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最終判断をする人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278155" y="1874520"/>
            <a:ext cx="3273461" cy="457200"/>
          </a:xfrm>
          <a:prstGeom prst="rect">
            <a:avLst/>
          </a:prstGeom>
          <a:solidFill>
            <a:srgbClr val="02809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51307" y="1874520"/>
            <a:ext cx="318202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相談・報告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51307" y="2331720"/>
            <a:ext cx="3182021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事前に相談／終わったら報告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40080" y="2606040"/>
            <a:ext cx="3273461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13541" y="2606040"/>
            <a:ext cx="2182307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95848" y="2606040"/>
            <a:ext cx="2182307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78155" y="2606040"/>
            <a:ext cx="3273461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346704"/>
            <a:ext cx="3273461" cy="740664"/>
          </a:xfrm>
          <a:prstGeom prst="rect">
            <a:avLst/>
          </a:prstGeom>
          <a:solidFill>
            <a:srgbClr val="F0F7F8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913541" y="3346704"/>
            <a:ext cx="2182307" cy="740664"/>
          </a:xfrm>
          <a:prstGeom prst="rect">
            <a:avLst/>
          </a:prstGeom>
          <a:solidFill>
            <a:srgbClr val="F0F7F8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95848" y="3346704"/>
            <a:ext cx="2182307" cy="740664"/>
          </a:xfrm>
          <a:prstGeom prst="rect">
            <a:avLst/>
          </a:prstGeom>
          <a:solidFill>
            <a:srgbClr val="F0F7F8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78155" y="3346704"/>
            <a:ext cx="3273461" cy="740664"/>
          </a:xfrm>
          <a:prstGeom prst="rect">
            <a:avLst/>
          </a:prstGeom>
          <a:solidFill>
            <a:srgbClr val="F0F7F8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087368"/>
            <a:ext cx="3273461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13541" y="4087368"/>
            <a:ext cx="2182307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95848" y="4087368"/>
            <a:ext cx="2182307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78155" y="4087368"/>
            <a:ext cx="3273461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4828032"/>
            <a:ext cx="3273461" cy="740664"/>
          </a:xfrm>
          <a:prstGeom prst="rect">
            <a:avLst/>
          </a:prstGeom>
          <a:solidFill>
            <a:srgbClr val="F0F7F8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913541" y="4828032"/>
            <a:ext cx="2182307" cy="740664"/>
          </a:xfrm>
          <a:prstGeom prst="rect">
            <a:avLst/>
          </a:prstGeom>
          <a:solidFill>
            <a:srgbClr val="F0F7F8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95848" y="4828032"/>
            <a:ext cx="2182307" cy="740664"/>
          </a:xfrm>
          <a:prstGeom prst="rect">
            <a:avLst/>
          </a:prstGeom>
          <a:solidFill>
            <a:srgbClr val="F0F7F8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78155" y="4828032"/>
            <a:ext cx="3273461" cy="740664"/>
          </a:xfrm>
          <a:prstGeom prst="rect">
            <a:avLst/>
          </a:prstGeom>
          <a:solidFill>
            <a:srgbClr val="F0F7F8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5568696"/>
            <a:ext cx="3273461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13541" y="5568696"/>
            <a:ext cx="2182307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095848" y="5568696"/>
            <a:ext cx="2182307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78155" y="5568696"/>
            <a:ext cx="3273461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作業分解シート（WBS）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大きな目標を、担当と期限つきの作業に分ける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7568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6654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246888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ゴールを達成するために必要な作業を、小さく分解して書き出す方法。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45948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5692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56006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" y="396240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やることの抜け漏れをなくし、担当と期限を決める。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495300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50627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053584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4672" y="545592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合宿やイベントの準備が間に合い、直前の混乱を減らせる。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06240" y="1737360"/>
            <a:ext cx="734537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記入例：ひだまりテニスサークル（架空）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878928" y="306324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4202" y="3291840"/>
            <a:ext cx="5949452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04202" y="329184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06240" y="3520440"/>
            <a:ext cx="1395923" cy="640080"/>
          </a:xfrm>
          <a:prstGeom prst="roundRect">
            <a:avLst>
              <a:gd name="adj" fmla="val 8571"/>
            </a:avLst>
          </a:prstGeom>
          <a:solidFill>
            <a:srgbClr val="D9ECEE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3520440"/>
            <a:ext cx="1304483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宿の手配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04202" y="416052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206240" y="4389120"/>
            <a:ext cx="1395923" cy="192024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4279392" y="4434840"/>
            <a:ext cx="1304483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細かい作業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279392" y="4709160"/>
            <a:ext cx="1249619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宿に見積もり依頼（会計・5/10）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391565" y="329184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93603" y="3520440"/>
            <a:ext cx="1395923" cy="640080"/>
          </a:xfrm>
          <a:prstGeom prst="roundRect">
            <a:avLst>
              <a:gd name="adj" fmla="val 8571"/>
            </a:avLst>
          </a:prstGeom>
          <a:solidFill>
            <a:srgbClr val="D9ECEE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39323" y="3520440"/>
            <a:ext cx="1304483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参加者募集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91565" y="416052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5693603" y="4389120"/>
            <a:ext cx="1395923" cy="192024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5766755" y="4434840"/>
            <a:ext cx="1304483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細かい作業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766755" y="4709160"/>
            <a:ext cx="1249619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参加アンケート作成（Aさん・5/20）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878928" y="329184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180966" y="3520440"/>
            <a:ext cx="1395923" cy="640080"/>
          </a:xfrm>
          <a:prstGeom prst="roundRect">
            <a:avLst>
              <a:gd name="adj" fmla="val 8571"/>
            </a:avLst>
          </a:prstGeom>
          <a:solidFill>
            <a:srgbClr val="D9ECEE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6686" y="3520440"/>
            <a:ext cx="1304483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移動手段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878928" y="416052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7180966" y="4389120"/>
            <a:ext cx="1395923" cy="192024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7254118" y="4434840"/>
            <a:ext cx="1304483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細かい作業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9366291" y="329184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668329" y="3520440"/>
            <a:ext cx="1395923" cy="640080"/>
          </a:xfrm>
          <a:prstGeom prst="roundRect">
            <a:avLst>
              <a:gd name="adj" fmla="val 8571"/>
            </a:avLst>
          </a:prstGeom>
          <a:solidFill>
            <a:srgbClr val="D9ECEE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714049" y="3520440"/>
            <a:ext cx="1304483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当日の運営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9366291" y="416052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8668329" y="4389120"/>
            <a:ext cx="1395923" cy="192024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8741481" y="4434840"/>
            <a:ext cx="1304483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細かい作業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0853654" y="329184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155692" y="3520440"/>
            <a:ext cx="1395923" cy="640080"/>
          </a:xfrm>
          <a:prstGeom prst="roundRect">
            <a:avLst>
              <a:gd name="adj" fmla="val 8571"/>
            </a:avLst>
          </a:prstGeom>
          <a:solidFill>
            <a:srgbClr val="D9ECEE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201412" y="3520440"/>
            <a:ext cx="1304483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精算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10853654" y="416052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10155692" y="4389120"/>
            <a:ext cx="1395923" cy="192024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10228844" y="4434840"/>
            <a:ext cx="1304483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細かい作業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308046" y="2103120"/>
            <a:ext cx="5141763" cy="960120"/>
          </a:xfrm>
          <a:prstGeom prst="roundRect">
            <a:avLst>
              <a:gd name="adj" fmla="val 7619"/>
            </a:avLst>
          </a:prstGeom>
          <a:solidFill>
            <a:srgbClr val="E9E9E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45206" y="2167128"/>
            <a:ext cx="486744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ゴール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5445206" y="2487168"/>
            <a:ext cx="4867443" cy="521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夏合宿に30人が参加し、予算内で事故なく終える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作業分解シート（WBS）（記入用）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095848" y="283464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94658" y="3063240"/>
            <a:ext cx="880238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94658" y="306324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3291840"/>
            <a:ext cx="2109155" cy="640080"/>
          </a:xfrm>
          <a:prstGeom prst="roundRect">
            <a:avLst>
              <a:gd name="adj" fmla="val 8571"/>
            </a:avLst>
          </a:prstGeom>
          <a:solidFill>
            <a:srgbClr val="D9ECEE"/>
          </a:solidFill>
          <a:ln w="15875">
            <a:solidFill>
              <a:srgbClr val="02809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85800" y="3291840"/>
            <a:ext cx="20177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大きな作業1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694658" y="393192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640080" y="4160520"/>
            <a:ext cx="2109155" cy="2148840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713232" y="4206240"/>
            <a:ext cx="2017715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細かい作業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9262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731520" y="5065776"/>
            <a:ext cx="19262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31520" y="5376672"/>
            <a:ext cx="19262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31520" y="5687568"/>
            <a:ext cx="19262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895253" y="306324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40675" y="3291840"/>
            <a:ext cx="2109155" cy="640080"/>
          </a:xfrm>
          <a:prstGeom prst="roundRect">
            <a:avLst>
              <a:gd name="adj" fmla="val 8571"/>
            </a:avLst>
          </a:prstGeom>
          <a:solidFill>
            <a:srgbClr val="D9ECEE"/>
          </a:solidFill>
          <a:ln w="15875">
            <a:solidFill>
              <a:srgbClr val="02809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2886395" y="3291840"/>
            <a:ext cx="20177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大きな作業2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895253" y="393192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2840675" y="4160520"/>
            <a:ext cx="2109155" cy="2148840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2913827" y="4206240"/>
            <a:ext cx="2017715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細かい作業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932115" y="4754880"/>
            <a:ext cx="19262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2932115" y="5065776"/>
            <a:ext cx="19262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2932115" y="5376672"/>
            <a:ext cx="19262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2932115" y="5687568"/>
            <a:ext cx="19262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095848" y="306324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41270" y="3291840"/>
            <a:ext cx="2109155" cy="640080"/>
          </a:xfrm>
          <a:prstGeom prst="roundRect">
            <a:avLst>
              <a:gd name="adj" fmla="val 8571"/>
            </a:avLst>
          </a:prstGeom>
          <a:solidFill>
            <a:srgbClr val="D9ECEE"/>
          </a:solidFill>
          <a:ln w="15875">
            <a:solidFill>
              <a:srgbClr val="02809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5086990" y="3291840"/>
            <a:ext cx="20177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大きな作業3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095848" y="393192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041270" y="4160520"/>
            <a:ext cx="2109155" cy="2148840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5114422" y="4206240"/>
            <a:ext cx="2017715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細かい作業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132710" y="4754880"/>
            <a:ext cx="19262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32710" y="5065776"/>
            <a:ext cx="19262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5132710" y="5376672"/>
            <a:ext cx="19262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5132710" y="5687568"/>
            <a:ext cx="19262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8296443" y="306324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241865" y="3291840"/>
            <a:ext cx="2109155" cy="640080"/>
          </a:xfrm>
          <a:prstGeom prst="roundRect">
            <a:avLst>
              <a:gd name="adj" fmla="val 8571"/>
            </a:avLst>
          </a:prstGeom>
          <a:solidFill>
            <a:srgbClr val="D9ECEE"/>
          </a:solidFill>
          <a:ln w="15875">
            <a:solidFill>
              <a:srgbClr val="02809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7287585" y="3291840"/>
            <a:ext cx="20177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大きな作業4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296443" y="393192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7241865" y="4160520"/>
            <a:ext cx="2109155" cy="2148840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7315017" y="4206240"/>
            <a:ext cx="2017715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細かい作業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7333305" y="4754880"/>
            <a:ext cx="19262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7333305" y="5065776"/>
            <a:ext cx="19262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7333305" y="5376672"/>
            <a:ext cx="19262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7333305" y="5687568"/>
            <a:ext cx="19262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10497038" y="306324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442460" y="3291840"/>
            <a:ext cx="2109155" cy="640080"/>
          </a:xfrm>
          <a:prstGeom prst="roundRect">
            <a:avLst>
              <a:gd name="adj" fmla="val 8571"/>
            </a:avLst>
          </a:prstGeom>
          <a:solidFill>
            <a:srgbClr val="D9ECEE"/>
          </a:solidFill>
          <a:ln w="15875">
            <a:solidFill>
              <a:srgbClr val="028090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9488180" y="3291840"/>
            <a:ext cx="20177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大きな作業5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10497038" y="3931920"/>
            <a:ext cx="0" cy="228600"/>
          </a:xfrm>
          <a:prstGeom prst="line">
            <a:avLst/>
          </a:prstGeom>
          <a:noFill/>
          <a:ln w="19050">
            <a:solidFill>
              <a:srgbClr val="1E2761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9442460" y="4160520"/>
            <a:ext cx="2109155" cy="2148840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55" name="Text 53"/>
          <p:cNvSpPr/>
          <p:nvPr/>
        </p:nvSpPr>
        <p:spPr>
          <a:xfrm>
            <a:off x="9515612" y="4206240"/>
            <a:ext cx="2017715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細かい作業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9533900" y="4754880"/>
            <a:ext cx="19262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9533900" y="5065776"/>
            <a:ext cx="19262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9533900" y="5376672"/>
            <a:ext cx="19262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9533900" y="5687568"/>
            <a:ext cx="1926275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2276810" y="1874520"/>
            <a:ext cx="7638075" cy="960120"/>
          </a:xfrm>
          <a:prstGeom prst="roundRect">
            <a:avLst>
              <a:gd name="adj" fmla="val 7619"/>
            </a:avLst>
          </a:prstGeom>
          <a:solidFill>
            <a:srgbClr val="E9E9E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61" name="Text 59"/>
          <p:cNvSpPr/>
          <p:nvPr/>
        </p:nvSpPr>
        <p:spPr>
          <a:xfrm>
            <a:off x="2413970" y="1938528"/>
            <a:ext cx="736375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ゴール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2413970" y="2240280"/>
            <a:ext cx="7363755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完成の状態を1文で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引き継ぎシート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個人の頭の中にあるやり方を、次の代が使える文書にする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7568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6654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246888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自分の経験やコツを、書き言葉にして残すこと（暗黙知を形式知に変える）。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45948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5692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56006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" y="396240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代替わりで知識が消えるのを防ぐ。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4953000"/>
            <a:ext cx="3291840" cy="1356360"/>
          </a:xfrm>
          <a:prstGeom prst="roundRect">
            <a:avLst>
              <a:gd name="adj" fmla="val 5393"/>
            </a:avLst>
          </a:prstGeom>
          <a:solidFill>
            <a:srgbClr val="EEF3FD"/>
          </a:solidFill>
          <a:ln w="15875">
            <a:solidFill>
              <a:srgbClr val="D9E2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50627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053584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4672" y="5455920"/>
            <a:ext cx="2962656" cy="80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次の代がゼロからやり直さず、失敗を繰り返さない。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06240" y="1737360"/>
            <a:ext cx="734537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E891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記入例：ひだまりテニスサークル（架空）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06240" y="5897880"/>
            <a:ext cx="7345375" cy="411480"/>
          </a:xfrm>
          <a:prstGeom prst="rightArrow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4389120" y="5897880"/>
            <a:ext cx="67967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次の代のリーダーへ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06240" y="2468880"/>
            <a:ext cx="3558388" cy="1435608"/>
          </a:xfrm>
          <a:prstGeom prst="roundRect">
            <a:avLst>
              <a:gd name="adj" fmla="val 5096"/>
            </a:avLst>
          </a:prstGeom>
          <a:solidFill>
            <a:srgbClr val="E6F2F4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06240" y="2157984"/>
            <a:ext cx="2135033" cy="36576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4297680" y="21579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続けてほしいこと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43400" y="2560320"/>
            <a:ext cx="328406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体験会は先輩が初心者に1対1でつく。連絡は前日にLINEで再通知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993228" y="2468880"/>
            <a:ext cx="3558388" cy="1435608"/>
          </a:xfrm>
          <a:prstGeom prst="roundRect">
            <a:avLst>
              <a:gd name="adj" fmla="val 5096"/>
            </a:avLst>
          </a:prstGeom>
          <a:solidFill>
            <a:srgbClr val="F9EFEF"/>
          </a:solidFill>
          <a:ln w="19050">
            <a:solidFill>
              <a:srgbClr val="C05A5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93228" y="2157984"/>
            <a:ext cx="2135033" cy="365760"/>
          </a:xfrm>
          <a:prstGeom prst="roundRect">
            <a:avLst>
              <a:gd name="adj" fmla="val 20000"/>
            </a:avLst>
          </a:prstGeom>
          <a:solidFill>
            <a:srgbClr val="C05A5A"/>
          </a:solidFill>
          <a:ln/>
        </p:spPr>
      </p:sp>
      <p:sp>
        <p:nvSpPr>
          <p:cNvPr id="27" name="Text 25"/>
          <p:cNvSpPr/>
          <p:nvPr/>
        </p:nvSpPr>
        <p:spPr>
          <a:xfrm>
            <a:off x="8084668" y="21579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失敗と注意点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130388" y="2560320"/>
            <a:ext cx="328406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合宿の宿は4月までに押さえないと満室／領収書は当日中に回収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06240" y="4361688"/>
            <a:ext cx="3558388" cy="1435608"/>
          </a:xfrm>
          <a:prstGeom prst="roundRect">
            <a:avLst>
              <a:gd name="adj" fmla="val 5096"/>
            </a:avLst>
          </a:prstGeom>
          <a:solidFill>
            <a:srgbClr val="F0EDF4"/>
          </a:solidFill>
          <a:ln w="19050">
            <a:solidFill>
              <a:srgbClr val="6C4C8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06240" y="4050792"/>
            <a:ext cx="2135033" cy="365760"/>
          </a:xfrm>
          <a:prstGeom prst="roundRect">
            <a:avLst>
              <a:gd name="adj" fmla="val 20000"/>
            </a:avLst>
          </a:prstGeom>
          <a:solidFill>
            <a:srgbClr val="6C4C8C"/>
          </a:solidFill>
          <a:ln/>
        </p:spPr>
      </p:sp>
      <p:sp>
        <p:nvSpPr>
          <p:cNvPr id="31" name="Text 29"/>
          <p:cNvSpPr/>
          <p:nvPr/>
        </p:nvSpPr>
        <p:spPr>
          <a:xfrm>
            <a:off x="4297680" y="405079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資料・連絡先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43400" y="4453128"/>
            <a:ext cx="328406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予算表：共有ドライブ「会計」／コート予約：学生課の窓口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993228" y="4361688"/>
            <a:ext cx="3558388" cy="1435608"/>
          </a:xfrm>
          <a:prstGeom prst="roundRect">
            <a:avLst>
              <a:gd name="adj" fmla="val 5096"/>
            </a:avLst>
          </a:prstGeom>
          <a:solidFill>
            <a:srgbClr val="FDF4EB"/>
          </a:solidFill>
          <a:ln w="19050">
            <a:solidFill>
              <a:srgbClr val="E8913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93228" y="4050792"/>
            <a:ext cx="2135033" cy="365760"/>
          </a:xfrm>
          <a:prstGeom prst="roundRect">
            <a:avLst>
              <a:gd name="adj" fmla="val 20000"/>
            </a:avLst>
          </a:prstGeom>
          <a:solidFill>
            <a:srgbClr val="E8913A"/>
          </a:solidFill>
          <a:ln/>
        </p:spPr>
      </p:sp>
      <p:sp>
        <p:nvSpPr>
          <p:cNvPr id="35" name="Text 33"/>
          <p:cNvSpPr/>
          <p:nvPr/>
        </p:nvSpPr>
        <p:spPr>
          <a:xfrm>
            <a:off x="8084668" y="405079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後輩へのひとこと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130388" y="4453128"/>
            <a:ext cx="328406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全員に役割を持たせると、辞める人が減ります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引き継ぎシート（記入用）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5897880"/>
            <a:ext cx="10911535" cy="411480"/>
          </a:xfrm>
          <a:prstGeom prst="rightArrow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5897880"/>
            <a:ext cx="10362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次の代のリーダーへ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240280"/>
            <a:ext cx="5341468" cy="1549908"/>
          </a:xfrm>
          <a:prstGeom prst="roundRect">
            <a:avLst>
              <a:gd name="adj" fmla="val 4720"/>
            </a:avLst>
          </a:prstGeom>
          <a:solidFill>
            <a:srgbClr val="E6F2F4"/>
          </a:solidFill>
          <a:ln w="19050">
            <a:solidFill>
              <a:srgbClr val="028090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640080" y="1929384"/>
            <a:ext cx="2194560" cy="36576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9293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続けてほしいこと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23134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うまくいった型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77240" y="2852928"/>
            <a:ext cx="506714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77240" y="3163824"/>
            <a:ext cx="506714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777240" y="3474720"/>
            <a:ext cx="506714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210148" y="2240280"/>
            <a:ext cx="5341468" cy="1549908"/>
          </a:xfrm>
          <a:prstGeom prst="roundRect">
            <a:avLst>
              <a:gd name="adj" fmla="val 4720"/>
            </a:avLst>
          </a:prstGeom>
          <a:solidFill>
            <a:srgbClr val="F9EFEF"/>
          </a:solidFill>
          <a:ln w="19050">
            <a:solidFill>
              <a:srgbClr val="C05A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10148" y="1929384"/>
            <a:ext cx="2194560" cy="365760"/>
          </a:xfrm>
          <a:prstGeom prst="roundRect">
            <a:avLst>
              <a:gd name="adj" fmla="val 20000"/>
            </a:avLst>
          </a:prstGeom>
          <a:solidFill>
            <a:srgbClr val="C05A5A"/>
          </a:solidFill>
          <a:ln/>
        </p:spPr>
      </p:sp>
      <p:sp>
        <p:nvSpPr>
          <p:cNvPr id="19" name="Text 17"/>
          <p:cNvSpPr/>
          <p:nvPr/>
        </p:nvSpPr>
        <p:spPr>
          <a:xfrm>
            <a:off x="6301588" y="19293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失敗と注意点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47308" y="23134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次は避けたいこと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47308" y="2852928"/>
            <a:ext cx="506714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347308" y="3163824"/>
            <a:ext cx="506714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6347308" y="3474720"/>
            <a:ext cx="506714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40080" y="4247388"/>
            <a:ext cx="5341468" cy="1549908"/>
          </a:xfrm>
          <a:prstGeom prst="roundRect">
            <a:avLst>
              <a:gd name="adj" fmla="val 4720"/>
            </a:avLst>
          </a:prstGeom>
          <a:solidFill>
            <a:srgbClr val="F0EDF4"/>
          </a:solidFill>
          <a:ln w="19050">
            <a:solidFill>
              <a:srgbClr val="6C4C8C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40080" y="3936492"/>
            <a:ext cx="2194560" cy="365760"/>
          </a:xfrm>
          <a:prstGeom prst="roundRect">
            <a:avLst>
              <a:gd name="adj" fmla="val 20000"/>
            </a:avLst>
          </a:prstGeom>
          <a:solidFill>
            <a:srgbClr val="6C4C8C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93649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資料・連絡先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" y="4320540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どこに何があるか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77240" y="4860036"/>
            <a:ext cx="506714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777240" y="5170932"/>
            <a:ext cx="506714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777240" y="5481828"/>
            <a:ext cx="506714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0148" y="4247388"/>
            <a:ext cx="5341468" cy="1549908"/>
          </a:xfrm>
          <a:prstGeom prst="roundRect">
            <a:avLst>
              <a:gd name="adj" fmla="val 4720"/>
            </a:avLst>
          </a:prstGeom>
          <a:solidFill>
            <a:srgbClr val="FDF4EB"/>
          </a:solidFill>
          <a:ln w="19050">
            <a:solidFill>
              <a:srgbClr val="E8913A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0148" y="3936492"/>
            <a:ext cx="2194560" cy="365760"/>
          </a:xfrm>
          <a:prstGeom prst="roundRect">
            <a:avLst>
              <a:gd name="adj" fmla="val 20000"/>
            </a:avLst>
          </a:prstGeom>
          <a:solidFill>
            <a:srgbClr val="E8913A"/>
          </a:solidFill>
          <a:ln/>
        </p:spPr>
      </p:sp>
      <p:sp>
        <p:nvSpPr>
          <p:cNvPr id="33" name="Text 31"/>
          <p:cNvSpPr/>
          <p:nvPr/>
        </p:nvSpPr>
        <p:spPr>
          <a:xfrm>
            <a:off x="6301588" y="393649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後輩へのひとこと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47308" y="4320540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気持ちを伝える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347308" y="4860036"/>
            <a:ext cx="506714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347308" y="5170932"/>
            <a:ext cx="506714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347308" y="5481828"/>
            <a:ext cx="5067148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2026-10-14T13:47:42Z</dcterms:created>
  <dcterms:modified xsi:type="dcterms:W3CDTF">2026-10-14T13:47:42Z</dcterms:modified>
</cp:coreProperties>
</file>