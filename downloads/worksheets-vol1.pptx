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第1弾｜サークル・委員会リーダー向け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リーダーのためのワークシート集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理念づくり／SWOT／経験の言語化／役割分担／WBS／引き継ぎ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すべて無料・学生団体のみなさんは自由に使えます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1つのワークは2枚。まず例を読み、次に白紙に書きます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解説と記入例を読む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意味・狙い・効果と、サークルでの記入例を確認します。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白紙のシートに書く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自分のサークルについて、思いつくまま書き込みます。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メンバーと見せ合う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幹部や仲間と読み合い、直して決定版にします。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※記入例は架空の「ひだまりテニスサークル（部員40名）」のものです。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サークルの理念づくり（MVV）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何のために存在し、どこを目指し、何を大切にするかを言葉にする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ミッション（存在意義）・ビジョン（目指す姿）・バリュー（大切な行動の約束）を言葉にすること。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メンバーの向きをそろえ、迷ったときの判断基準をつくる。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新歓での説明に一貫性が出て、代替わりしても方針がぶれない。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ミッション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運動が苦手な人も、仲間と楽しく体を動かせる場をつくる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81279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036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ビジョン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748784"/>
            <a:ext cx="8168335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3年後、入部した新入生の8割が1年以上続けるサークルになる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583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5747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バリュー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519928"/>
            <a:ext cx="8168335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初心者を置いていかない／勝敗より雰囲気を優先する／全員に役割がある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サークルの理念づくり（MVV）（記入用）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54298" cy="4434840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ミッション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何のために存在するか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04672" y="36118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04672" y="397764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04672" y="434340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04672" y="47091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04672" y="50749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04672" y="54406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368698" y="1874520"/>
            <a:ext cx="3454298" cy="4434840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05858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05858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ビジョン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3290" y="2404872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3年後にどうなっていたいか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33290" y="28803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33290" y="32461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33290" y="36118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33290" y="397764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33290" y="434340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33290" y="47091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33290" y="50749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533290" y="54406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97317" y="1874520"/>
            <a:ext cx="3454298" cy="4434840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234477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8234477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バリュー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61909" y="2404872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大切にする行動の約束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61909" y="28803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261909" y="32461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261909" y="36118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261909" y="397764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8261909" y="434340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261909" y="47091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8261909" y="50749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261909" y="54406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サークルのSWOT分析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強み・弱み・機会・脅威を整理して、次の一手を見つける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内部の強み・弱みと、外部の機会・脅威を4つに整理する分析。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感覚で語りがちな現状を、客観的に言葉にそろえる。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新歓や活動方針で「どこに力を入れるか」を根拠をもって決められる。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 強み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初心者歓迎の雰囲気／コートを無料で使える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 弱み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幹部に仕事が集中／SNSの更新が止まっている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 機会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運動不足を気にする新入生が多い／学内に似たサークルが少ない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 脅威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人気の他サークルに新入生が流れる／卒業で人数が減る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サークルのSWOT分析（記入用）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 強み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自分たちの内側のプラス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 弱み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自分たちの内側のマイナス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 機会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外側の追い風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 脅威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外側の逆風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経験の言語化シート（STAR法）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リーダー経験を、人に伝わる成果の形に整理する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状況・課題・行動・結果の4つの順で、自分の経験を整理する方法。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「頑張った」で終わらず、自分が何をして何が変わったかを示す。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自己PRや面接で、経験を短く具体的に話せるようになる。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 状況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新歓で、入部者が前年の半分に減っていた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 課題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入部者を前年並みの20人に戻す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 行動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体験会を週3回に増やし、先輩が初心者に1対1でつく担当制にした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 結果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入部者が22人になり、1年後の継続率も前年より上がった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経験の言語化シート（STAR法）（記入用）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 状況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どんな場面だったか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 課題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何を達成する必要があったか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 行動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自分が何をしたか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 結果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何が変わったか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役割分担表（誰が何を決めるか）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仕事ごとに、実行する人と判断する人をはっきりさせる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1つの仕事について、担当・責任者・相談先・報告先を決める表。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「誰かがやるだろう」を防ぎ、仕事の抜けと偏りを見つける。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幹部への負担集中が減り、メンバーが自分の役割を意識して動く。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新歓の体験会を準備する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2年のAさん・Bさん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部長（1人だけにする）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相談・報告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相談：会計・OB／報告：全体LINEで日報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役割分担表（誰が何を決めるか）（記入用）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何をするか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実際に動く人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最終判断をする人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相談・報告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事前に相談／終わったら報告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作業分解シート（WBS）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大きな目標を、担当と期限つきの作業に分ける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ゴールを達成するために必要な作業を、小さく分解して書き出す方法。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やることの抜け漏れをなくし、担当と期限を決める。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合宿やイベントの準備が間に合い、直前の混乱を減らせる。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夏合宿に30人が参加し、予算内で事故なく終える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81279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036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大きな作業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748784"/>
            <a:ext cx="8168335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宿の手配／参加者募集／移動手段／当日の運営／精算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583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5747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細かい作業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519928"/>
            <a:ext cx="8168335" cy="725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宿に見積もり依頼（会計・5/10）／参加アンケート作成（Aさん・5/20）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作業分解シート（WBS）（記入用）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54298" cy="4434840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完成の状態を1文で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04672" y="36118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04672" y="397764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04672" y="434340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04672" y="47091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04672" y="50749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04672" y="54406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368698" y="1874520"/>
            <a:ext cx="3454298" cy="4434840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05858" y="20025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05858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大きな作業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3290" y="2404872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3〜5個に分ける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33290" y="28803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33290" y="32461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33290" y="36118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33290" y="397764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33290" y="434340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33290" y="47091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33290" y="50749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533290" y="54406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97317" y="1874520"/>
            <a:ext cx="3454298" cy="4434840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234477" y="20025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234477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細かい作業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61909" y="2404872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担当と期限つきで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61909" y="28803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261909" y="32461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261909" y="36118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261909" y="397764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8261909" y="434340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261909" y="470916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8261909" y="507492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261909" y="5440680"/>
            <a:ext cx="312511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引き継ぎシート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個人の頭の中にあるやり方を、次の代が使える文書にする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自分の経験やコツを、書き言葉にして残すこと（暗黙知を形式知に変える）。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代替わりで知識が消えるのを防ぐ。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次の代がゼロからやり直さず、失敗を繰り返さない。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続けてほしいこと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体験会は先輩が初心者に1対1でつく。連絡は前日にLINEで再通知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失敗と注意点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合宿の宿は4月までに押さえないと満室／領収書は当日中に回収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資料・連絡先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予算表：共有ドライブ「会計」／コート予約：学生課の窓口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後輩へのひとこと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全員に役割を持たせると、辞める人が減ります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引き継ぎシート（記入用）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続けてほしいこと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失敗と注意点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次は避けたいこと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資料・連絡先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どこに何があるか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後輩へのひとこと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気持ちを伝える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2026-10-13T07:01:27Z</dcterms:created>
  <dcterms:modified xsi:type="dcterms:W3CDTF">2026-10-13T07:01:27Z</dcterms:modified>
</cp:coreProperties>
</file>